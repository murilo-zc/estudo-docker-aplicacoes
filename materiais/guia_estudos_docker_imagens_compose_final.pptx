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0065f8bc4b452e" /><Relationship Type="http://schemas.openxmlformats.org/officeDocument/2006/relationships/extended-properties" Target="/docProps/app.xml" Id="R4fc8378773db4b5a" /><Relationship Type="http://schemas.openxmlformats.org/officeDocument/2006/relationships/officeDocument" Target="/ppt/presentation.xml" Id="Rb9bf8f9d565948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76c3727290469b"/>
  </p:sldMasterIdLst>
  <p:notesMasterIdLst>
    <p:notesMasterId xmlns:r="http://schemas.openxmlformats.org/officeDocument/2006/relationships" r:id="Racef5c5506c34f63"/>
  </p:notesMasterIdLst>
  <p:sldIdLst>
    <p:sldId xmlns:r="http://schemas.openxmlformats.org/officeDocument/2006/relationships" id="256" r:id="Rbb00a8448e50490b"/>
    <p:sldId xmlns:r="http://schemas.openxmlformats.org/officeDocument/2006/relationships" id="257" r:id="Rf81e772f95474d4e"/>
    <p:sldId xmlns:r="http://schemas.openxmlformats.org/officeDocument/2006/relationships" id="258" r:id="R9f40f77ee74e49a4"/>
    <p:sldId xmlns:r="http://schemas.openxmlformats.org/officeDocument/2006/relationships" id="259" r:id="R45ac41fa070a430f"/>
    <p:sldId xmlns:r="http://schemas.openxmlformats.org/officeDocument/2006/relationships" id="260" r:id="R59e1b71ccafe47ea"/>
    <p:sldId xmlns:r="http://schemas.openxmlformats.org/officeDocument/2006/relationships" id="261" r:id="R40a002cde37d49b0"/>
    <p:sldId xmlns:r="http://schemas.openxmlformats.org/officeDocument/2006/relationships" id="262" r:id="R0bbb28f8ca7e47c9"/>
    <p:sldId xmlns:r="http://schemas.openxmlformats.org/officeDocument/2006/relationships" id="263" r:id="R276312e409204dd7"/>
    <p:sldId xmlns:r="http://schemas.openxmlformats.org/officeDocument/2006/relationships" id="264" r:id="Rb1c683880fbc4c78"/>
    <p:sldId xmlns:r="http://schemas.openxmlformats.org/officeDocument/2006/relationships" id="265" r:id="R087d8381c86e49b8"/>
    <p:sldId xmlns:r="http://schemas.openxmlformats.org/officeDocument/2006/relationships" id="266" r:id="R4a3a24e4c83044e4"/>
    <p:sldId xmlns:r="http://schemas.openxmlformats.org/officeDocument/2006/relationships" id="267" r:id="Rd798deae0ade4493"/>
    <p:sldId xmlns:r="http://schemas.openxmlformats.org/officeDocument/2006/relationships" id="268" r:id="R4a65e6ceb6d14a09"/>
    <p:sldId xmlns:r="http://schemas.openxmlformats.org/officeDocument/2006/relationships" id="269" r:id="Rbad378c0e83f4c02"/>
    <p:sldId xmlns:r="http://schemas.openxmlformats.org/officeDocument/2006/relationships" id="270" r:id="R04fecf41895d4449"/>
    <p:sldId xmlns:r="http://schemas.openxmlformats.org/officeDocument/2006/relationships" id="271" r:id="R9d5f4585a4164d23"/>
    <p:sldId xmlns:r="http://schemas.openxmlformats.org/officeDocument/2006/relationships" id="272" r:id="R928eed3a0e30456d"/>
    <p:sldId xmlns:r="http://schemas.openxmlformats.org/officeDocument/2006/relationships" id="273" r:id="R9269da48f4aa4347"/>
    <p:sldId xmlns:r="http://schemas.openxmlformats.org/officeDocument/2006/relationships" id="274" r:id="R3b69276248784028"/>
    <p:sldId xmlns:r="http://schemas.openxmlformats.org/officeDocument/2006/relationships" id="275" r:id="R52affc5bf0484b19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2afdbe105440c6" /><Relationship Type="http://schemas.openxmlformats.org/officeDocument/2006/relationships/slideMaster" Target="/ppt/slideMasters/slideMaster1.xml" Id="R2c76c3727290469b" /><Relationship Type="http://schemas.openxmlformats.org/officeDocument/2006/relationships/notesMaster" Target="/ppt/notesMasters/notesMaster1.xml" Id="Racef5c5506c34f63" /><Relationship Type="http://schemas.openxmlformats.org/officeDocument/2006/relationships/presProps" Target="/ppt/presProps.xml" Id="R5cdb217c5f884a0b" /><Relationship Type="http://schemas.openxmlformats.org/officeDocument/2006/relationships/tableStyles" Target="/ppt/tableStyles.xml" Id="R9d6bde0841e44c9e" /><Relationship Type="http://schemas.openxmlformats.org/officeDocument/2006/relationships/slide" Target="/ppt/slides/slide1.xml" Id="Rbb00a8448e50490b" /><Relationship Type="http://schemas.openxmlformats.org/officeDocument/2006/relationships/slide" Target="/ppt/slides/slide2.xml" Id="Rf81e772f95474d4e" /><Relationship Type="http://schemas.openxmlformats.org/officeDocument/2006/relationships/slide" Target="/ppt/slides/slide3.xml" Id="R9f40f77ee74e49a4" /><Relationship Type="http://schemas.openxmlformats.org/officeDocument/2006/relationships/slide" Target="/ppt/slides/slide4.xml" Id="R45ac41fa070a430f" /><Relationship Type="http://schemas.openxmlformats.org/officeDocument/2006/relationships/slide" Target="/ppt/slides/slide5.xml" Id="R59e1b71ccafe47ea" /><Relationship Type="http://schemas.openxmlformats.org/officeDocument/2006/relationships/slide" Target="/ppt/slides/slide6.xml" Id="R40a002cde37d49b0" /><Relationship Type="http://schemas.openxmlformats.org/officeDocument/2006/relationships/slide" Target="/ppt/slides/slide7.xml" Id="R0bbb28f8ca7e47c9" /><Relationship Type="http://schemas.openxmlformats.org/officeDocument/2006/relationships/slide" Target="/ppt/slides/slide8.xml" Id="R276312e409204dd7" /><Relationship Type="http://schemas.openxmlformats.org/officeDocument/2006/relationships/slide" Target="/ppt/slides/slide9.xml" Id="Rb1c683880fbc4c78" /><Relationship Type="http://schemas.openxmlformats.org/officeDocument/2006/relationships/slide" Target="/ppt/slides/slide10.xml" Id="R087d8381c86e49b8" /><Relationship Type="http://schemas.openxmlformats.org/officeDocument/2006/relationships/slide" Target="/ppt/slides/slide11.xml" Id="R4a3a24e4c83044e4" /><Relationship Type="http://schemas.openxmlformats.org/officeDocument/2006/relationships/slide" Target="/ppt/slides/slide12.xml" Id="Rd798deae0ade4493" /><Relationship Type="http://schemas.openxmlformats.org/officeDocument/2006/relationships/slide" Target="/ppt/slides/slide13.xml" Id="R4a65e6ceb6d14a09" /><Relationship Type="http://schemas.openxmlformats.org/officeDocument/2006/relationships/slide" Target="/ppt/slides/slide14.xml" Id="Rbad378c0e83f4c02" /><Relationship Type="http://schemas.openxmlformats.org/officeDocument/2006/relationships/slide" Target="/ppt/slides/slide15.xml" Id="R04fecf41895d4449" /><Relationship Type="http://schemas.openxmlformats.org/officeDocument/2006/relationships/slide" Target="/ppt/slides/slide16.xml" Id="R9d5f4585a4164d23" /><Relationship Type="http://schemas.openxmlformats.org/officeDocument/2006/relationships/slide" Target="/ppt/slides/slide17.xml" Id="R928eed3a0e30456d" /><Relationship Type="http://schemas.openxmlformats.org/officeDocument/2006/relationships/slide" Target="/ppt/slides/slide18.xml" Id="R9269da48f4aa4347" /><Relationship Type="http://schemas.openxmlformats.org/officeDocument/2006/relationships/slide" Target="/ppt/slides/slide19.xml" Id="R3b69276248784028" /><Relationship Type="http://schemas.openxmlformats.org/officeDocument/2006/relationships/slide" Target="/ppt/slides/slide20.xml" Id="R52affc5bf0484b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e29863603a48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329248eccf44d4" /><Relationship Type="http://schemas.openxmlformats.org/officeDocument/2006/relationships/notesMaster" Target="/ppt/notesMasters/notesMaster1.xml" Id="R4a83a721808643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6e336d12714317" /><Relationship Type="http://schemas.openxmlformats.org/officeDocument/2006/relationships/notesMaster" Target="/ppt/notesMasters/notesMaster1.xml" Id="Rdfb51ac41f814f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1350336dc646db" /><Relationship Type="http://schemas.openxmlformats.org/officeDocument/2006/relationships/notesMaster" Target="/ppt/notesMasters/notesMaster1.xml" Id="R62f05af099d646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2f3868761a4871" /><Relationship Type="http://schemas.openxmlformats.org/officeDocument/2006/relationships/notesMaster" Target="/ppt/notesMasters/notesMaster1.xml" Id="R773d05a31f5c40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2626f0e14b44c9" /><Relationship Type="http://schemas.openxmlformats.org/officeDocument/2006/relationships/notesMaster" Target="/ppt/notesMasters/notesMaster1.xml" Id="Rf035c809d9024a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924ba4924940ec" /><Relationship Type="http://schemas.openxmlformats.org/officeDocument/2006/relationships/notesMaster" Target="/ppt/notesMasters/notesMaster1.xml" Id="R06dfbbda603d40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26ddafaa7f410e" /><Relationship Type="http://schemas.openxmlformats.org/officeDocument/2006/relationships/notesMaster" Target="/ppt/notesMasters/notesMaster1.xml" Id="Rdc50048185354c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d505a5a23c46b0" /><Relationship Type="http://schemas.openxmlformats.org/officeDocument/2006/relationships/notesMaster" Target="/ppt/notesMasters/notesMaster1.xml" Id="R63ea4d3fe5ab41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029fbbcc434d4e" /><Relationship Type="http://schemas.openxmlformats.org/officeDocument/2006/relationships/notesMaster" Target="/ppt/notesMasters/notesMaster1.xml" Id="Rbdf77cfa551d40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2941d4deb426b" /><Relationship Type="http://schemas.openxmlformats.org/officeDocument/2006/relationships/notesMaster" Target="/ppt/notesMasters/notesMaster1.xml" Id="Rfda551a9f6b444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aa641b7c0847e7" /><Relationship Type="http://schemas.openxmlformats.org/officeDocument/2006/relationships/notesMaster" Target="/ppt/notesMasters/notesMaster1.xml" Id="R34cace6a5da74d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27c5d771eb4cf5" /><Relationship Type="http://schemas.openxmlformats.org/officeDocument/2006/relationships/notesMaster" Target="/ppt/notesMasters/notesMaster1.xml" Id="R88b08ff6a08c41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bf83b19f43487c" /><Relationship Type="http://schemas.openxmlformats.org/officeDocument/2006/relationships/notesMaster" Target="/ppt/notesMasters/notesMaster1.xml" Id="Refde5aca477c46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41945543924a4f" /><Relationship Type="http://schemas.openxmlformats.org/officeDocument/2006/relationships/notesMaster" Target="/ppt/notesMasters/notesMaster1.xml" Id="R180e950077e74d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bcb490d8464cde" /><Relationship Type="http://schemas.openxmlformats.org/officeDocument/2006/relationships/notesMaster" Target="/ppt/notesMasters/notesMaster1.xml" Id="R3fa5fa0ccae74e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fcd08af15c4e56" /><Relationship Type="http://schemas.openxmlformats.org/officeDocument/2006/relationships/notesMaster" Target="/ppt/notesMasters/notesMaster1.xml" Id="R2c74ce54f40048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0b4f4653754ed8" /><Relationship Type="http://schemas.openxmlformats.org/officeDocument/2006/relationships/notesMaster" Target="/ppt/notesMasters/notesMaster1.xml" Id="Rf281c96cd0de42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e0ad289a0f47d5" /><Relationship Type="http://schemas.openxmlformats.org/officeDocument/2006/relationships/notesMaster" Target="/ppt/notesMasters/notesMaster1.xml" Id="R70850f99659844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e42dc7dce54f98" /><Relationship Type="http://schemas.openxmlformats.org/officeDocument/2006/relationships/notesMaster" Target="/ppt/notesMasters/notesMaster1.xml" Id="R807639079a674d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63ff6991d34c33" /><Relationship Type="http://schemas.openxmlformats.org/officeDocument/2006/relationships/notesMaster" Target="/ppt/notesMasters/notesMaster1.xml" Id="Rd03bd2956a3f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curto para revisão. Os casos do repositório oferecem material de prática após 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alinhado aos Dockerfiles presentes nos casos do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Estrutura equivalente ao caso03, com foco no papel de cada campo e sem entregar os desafios propostos.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caso03 do repositório permite praticar este roteiro com uma incompatibilidade de porta no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9053646154c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ee4c444ea4ded" /><Relationship Type="http://schemas.openxmlformats.org/officeDocument/2006/relationships/slideLayout" Target="/ppt/slideLayouts/slideLayout1.xml" Id="R39f5aa915c6a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f5aa915c6a4e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a5ab752c4879" /><Relationship Type="http://schemas.openxmlformats.org/officeDocument/2006/relationships/notesSlide" Target="/ppt/notesSlides/notesSlide1.xml" Id="Rc9eb419e011643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6d390759b4c14" /><Relationship Type="http://schemas.openxmlformats.org/officeDocument/2006/relationships/notesSlide" Target="/ppt/notesSlides/notesSlide2.xml" Id="Rdd333040e86b4e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e36c74da846d7" /><Relationship Type="http://schemas.openxmlformats.org/officeDocument/2006/relationships/notesSlide" Target="/ppt/notesSlides/notesSlide3.xml" Id="Rc4a54371150341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66146750e4284" /><Relationship Type="http://schemas.openxmlformats.org/officeDocument/2006/relationships/notesSlide" Target="/ppt/notesSlides/notesSlide4.xml" Id="R55007b89ad4849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3eb75a5e143f2" /><Relationship Type="http://schemas.openxmlformats.org/officeDocument/2006/relationships/notesSlide" Target="/ppt/notesSlides/notesSlide5.xml" Id="Rf0b5631e9cc34e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d36479bfc4b03" /><Relationship Type="http://schemas.openxmlformats.org/officeDocument/2006/relationships/notesSlide" Target="/ppt/notesSlides/notesSlide6.xml" Id="R80c6163077544b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4ce59f752413f" /><Relationship Type="http://schemas.openxmlformats.org/officeDocument/2006/relationships/notesSlide" Target="/ppt/notesSlides/notesSlide7.xml" Id="R64b6a3a084ab48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ea29af8a74b34" /><Relationship Type="http://schemas.openxmlformats.org/officeDocument/2006/relationships/notesSlide" Target="/ppt/notesSlides/notesSlide8.xml" Id="R4ed6f59d9a4247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ab0aa3b70435a" /><Relationship Type="http://schemas.openxmlformats.org/officeDocument/2006/relationships/notesSlide" Target="/ppt/notesSlides/notesSlide9.xml" Id="R32c4d13bd03544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e956bad924676" /><Relationship Type="http://schemas.openxmlformats.org/officeDocument/2006/relationships/notesSlide" Target="/ppt/notesSlides/notesSlide10.xml" Id="R1cacdfe5a3fb42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db520dd34a57" /><Relationship Type="http://schemas.openxmlformats.org/officeDocument/2006/relationships/notesSlide" Target="/ppt/notesSlides/notesSlide11.xml" Id="R560fc92f8fd94a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9da2924644c5f" /><Relationship Type="http://schemas.openxmlformats.org/officeDocument/2006/relationships/notesSlide" Target="/ppt/notesSlides/notesSlide12.xml" Id="Raca43b4514d54b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bf625e20f4130" /><Relationship Type="http://schemas.openxmlformats.org/officeDocument/2006/relationships/notesSlide" Target="/ppt/notesSlides/notesSlide13.xml" Id="R54321126bdb94b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6b85acd944b5c" /><Relationship Type="http://schemas.openxmlformats.org/officeDocument/2006/relationships/notesSlide" Target="/ppt/notesSlides/notesSlide14.xml" Id="R7f67084200884c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1d7eeb6e54c40" /><Relationship Type="http://schemas.openxmlformats.org/officeDocument/2006/relationships/notesSlide" Target="/ppt/notesSlides/notesSlide15.xml" Id="R10a6309685ff44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f019420844a33" /><Relationship Type="http://schemas.openxmlformats.org/officeDocument/2006/relationships/notesSlide" Target="/ppt/notesSlides/notesSlide16.xml" Id="R9dec47a3bd7040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3d426e9c74040" /><Relationship Type="http://schemas.openxmlformats.org/officeDocument/2006/relationships/notesSlide" Target="/ppt/notesSlides/notesSlide17.xml" Id="R40ce5d490cd546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f99bd0d6e4f46" /><Relationship Type="http://schemas.openxmlformats.org/officeDocument/2006/relationships/notesSlide" Target="/ppt/notesSlides/notesSlide18.xml" Id="Rb4e60116323647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77933a8a44273" /><Relationship Type="http://schemas.openxmlformats.org/officeDocument/2006/relationships/notesSlide" Target="/ppt/notesSlides/notesSlide19.xml" Id="Ra5f5c08a917543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ef0914fd049ec" /><Relationship Type="http://schemas.openxmlformats.org/officeDocument/2006/relationships/notesSlide" Target="/ppt/notesSlides/notesSlide20.xml" Id="R3ee2bcc023ee46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868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7457183-ADCD-4F5E-BB6E-3E790B8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1524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Guia de estudos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Imagens e Docker Compose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E855FDA-EEC8-4C5B-A657-FFAC156A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381875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Conceitos essenciais e comandos de uso</a:t>
            </a:r>
          </a:p>
        </p:txBody>
      </p:sp>
      <p:sp>
        <p:nvSpPr>
          <p:cNvPr id="3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32163526-8FA1-425C-80F4-B3234A07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191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Containers e Docker</a:t>
            </a:r>
          </a:p>
        </p:txBody>
      </p:sp>
      <p:sp>
        <p:nvSpPr>
          <p:cNvPr id="4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DEBCC003-A9A2-4310-8009-A971DB9D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760858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6EA9299B-BA6D-4772-BA1C-E8557E68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Objetivos deste guia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FF5E5D6B-B69A-45BA-BD9A-A28F9C24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3" name="objectives">
            <a:extLst xmlns:a="http://schemas.openxmlformats.org/drawingml/2006/main">
              <a:ext uri="{FF2B5EF4-FFF2-40B4-BE49-F238E27FC236}">
                <a16:creationId xmlns:a16="http://schemas.microsoft.com/office/drawing/2014/main" id="{115D01E8-F315-482D-BFCE-A0A4AC2E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1952625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Distinguir imagem de container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Ler e escrever um Dockerfile pequeno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Construir uma imagem e iniciar containers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Descrever dois serviços com Docker Compose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7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7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Usar portas, nomes de serviço e logs para testar a solução</a:t>
            </a:r>
          </a:p>
        </p:txBody>
      </p:sp>
      <p:sp>
        <p:nvSpPr>
          <p:cNvPr id="4" name="callout-krr53s">
            <a:extLst xmlns:a="http://schemas.openxmlformats.org/drawingml/2006/main">
              <a:ext uri="{FF2B5EF4-FFF2-40B4-BE49-F238E27FC236}">
                <a16:creationId xmlns:a16="http://schemas.microsoft.com/office/drawing/2014/main" id="{5634FE48-0684-46FA-B055-EBB36CAB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O objetivo é entender as decisões. Os comandos vêm depois do modelo mental.</a:t>
            </a:r>
          </a:p>
        </p:txBody>
      </p:sp>
    </p:spTree>
    <p:extLst>
      <p:ext uri="{BB962C8B-B14F-4D97-AF65-F5344CB8AC3E}">
        <p14:creationId xmlns:p14="http://schemas.microsoft.com/office/powerpoint/2010/main" val="9086119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442753C6-8913-4B60-BF19-A7FB1436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Imagem container e registry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21350E15-9F6B-42EC-A611-1AC88198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3" name="registry">
            <a:extLst xmlns:a="http://schemas.openxmlformats.org/drawingml/2006/main">
              <a:ext uri="{FF2B5EF4-FFF2-40B4-BE49-F238E27FC236}">
                <a16:creationId xmlns:a16="http://schemas.microsoft.com/office/drawing/2014/main" id="{37EA8326-A788-4011-9E9C-028202A9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5334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REGISTRY</a:t>
            </a:r>
          </a:p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repositório de imagens</a:t>
            </a:r>
          </a:p>
        </p:txBody>
      </p:sp>
      <p:sp>
        <p:nvSpPr>
          <p:cNvPr id="4" name="image">
            <a:extLst xmlns:a="http://schemas.openxmlformats.org/drawingml/2006/main">
              <a:ext uri="{FF2B5EF4-FFF2-40B4-BE49-F238E27FC236}">
                <a16:creationId xmlns:a16="http://schemas.microsoft.com/office/drawing/2014/main" id="{330CB17B-48BC-475F-9E51-FF21E32B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5334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IMAGEM</a:t>
            </a:r>
          </a:p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modelo somente leitura</a:t>
            </a:r>
          </a:p>
        </p:txBody>
      </p:sp>
      <p:sp>
        <p:nvSpPr>
          <p:cNvPr id="5" name="container">
            <a:extLst xmlns:a="http://schemas.openxmlformats.org/drawingml/2006/main">
              <a:ext uri="{FF2B5EF4-FFF2-40B4-BE49-F238E27FC236}">
                <a16:creationId xmlns:a16="http://schemas.microsoft.com/office/drawing/2014/main" id="{CBA729B6-3C18-41D8-9735-61EDC28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4286250"/>
            <a:ext cx="5334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CONTAINER</a:t>
            </a:r>
          </a:p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instância em execução</a:t>
            </a:r>
          </a:p>
        </p:txBody>
      </p:sp>
      <p:cxnSp>
        <p:nvCxnSpPr>
          <p:cNvPr id="1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334250" y="53816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F3292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4859000" y="53816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F3292"/>
            </a:solidFill>
            <a:prstDash val="solid"/>
            <a:tailEnd type="arrow" w="med" len="med"/>
          </a:ln>
        </p:spPr>
      </p:cxnSp>
      <p:sp>
        <p:nvSpPr>
          <p:cNvPr id="8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B8CECCD4-8F68-4F6A-9767-84F494B2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620000"/>
            <a:ext cx="1790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docker pull baixa uma imagem. docker run cria um container novo a partir dela.</a:t>
            </a:r>
          </a:p>
        </p:txBody>
      </p:sp>
      <p:sp>
        <p:nvSpPr>
          <p:cNvPr id="9" name="callout-04z6wk">
            <a:extLst xmlns:a="http://schemas.openxmlformats.org/drawingml/2006/main">
              <a:ext uri="{FF2B5EF4-FFF2-40B4-BE49-F238E27FC236}">
                <a16:creationId xmlns:a16="http://schemas.microsoft.com/office/drawing/2014/main" id="{FD23D58E-CA81-4835-A20B-20A22F34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Uma imagem pode gerar vários containers com nomes, portas e configurações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4454538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4">
            <a:extLst xmlns:a="http://schemas.openxmlformats.org/drawingml/2006/main">
              <a:ext uri="{FF2B5EF4-FFF2-40B4-BE49-F238E27FC236}">
                <a16:creationId xmlns:a16="http://schemas.microsoft.com/office/drawing/2014/main" id="{3406FD78-D39E-4469-B650-4CF506F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A imagem é formada por camadas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7C4F2581-9999-4467-9989-7F37F9F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3" name="layer-Imagem base">
            <a:extLst xmlns:a="http://schemas.openxmlformats.org/drawingml/2006/main">
              <a:ext uri="{FF2B5EF4-FFF2-40B4-BE49-F238E27FC236}">
                <a16:creationId xmlns:a16="http://schemas.microsoft.com/office/drawing/2014/main" id="{4A40356B-81CA-4F38-94DE-73E1294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3716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Imagem base</a:t>
            </a:r>
          </a:p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python:3.12-slim</a:t>
            </a:r>
          </a:p>
        </p:txBody>
      </p:sp>
      <p:sp>
        <p:nvSpPr>
          <p:cNvPr id="4" name="layer-Dependências">
            <a:extLst xmlns:a="http://schemas.openxmlformats.org/drawingml/2006/main">
              <a:ext uri="{FF2B5EF4-FFF2-40B4-BE49-F238E27FC236}">
                <a16:creationId xmlns:a16="http://schemas.microsoft.com/office/drawing/2014/main" id="{2500986B-3A99-423B-898A-2EC202B1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4810125"/>
            <a:ext cx="14144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Dependências</a:t>
            </a:r>
          </a:p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pip install -r requirements.txt</a:t>
            </a:r>
          </a:p>
        </p:txBody>
      </p:sp>
      <p:sp>
        <p:nvSpPr>
          <p:cNvPr id="5" name="layer-Código da aplicação">
            <a:extLst xmlns:a="http://schemas.openxmlformats.org/drawingml/2006/main">
              <a:ext uri="{FF2B5EF4-FFF2-40B4-BE49-F238E27FC236}">
                <a16:creationId xmlns:a16="http://schemas.microsoft.com/office/drawing/2014/main" id="{87C115AD-14A4-49B9-8B82-C9D12FA3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77000"/>
            <a:ext cx="1457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Código da aplicação</a:t>
            </a:r>
          </a:p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COPY . .</a:t>
            </a:r>
          </a:p>
        </p:txBody>
      </p:sp>
      <p:sp>
        <p:nvSpPr>
          <p:cNvPr id="6" name="layer-Metadados de execução">
            <a:extLst xmlns:a="http://schemas.openxmlformats.org/drawingml/2006/main">
              <a:ext uri="{FF2B5EF4-FFF2-40B4-BE49-F238E27FC236}">
                <a16:creationId xmlns:a16="http://schemas.microsoft.com/office/drawing/2014/main" id="{6BD983D9-918D-4095-A4FD-865224B0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8143875"/>
            <a:ext cx="150018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Metadados de execução</a:t>
            </a:r>
          </a:p>
          <a:p xmlns:a="http://schemas.openxmlformats.org/drawingml/2006/main">
            <a:pPr algn="ctr">
              <a:def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EXPOSE e CMD</a:t>
            </a:r>
          </a:p>
        </p:txBody>
      </p:sp>
      <p:sp>
        <p:nvSpPr>
          <p:cNvPr id="7" name="callout-m6k6qz">
            <a:extLst xmlns:a="http://schemas.openxmlformats.org/drawingml/2006/main">
              <a:ext uri="{FF2B5EF4-FFF2-40B4-BE49-F238E27FC236}">
                <a16:creationId xmlns:a16="http://schemas.microsoft.com/office/drawing/2014/main" id="{3E289404-3CF1-4269-A4F0-F822EC97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Mudanças próximas ao fim do Dockerfile reaproveitam mais camadas do build anterior.</a:t>
            </a:r>
          </a:p>
        </p:txBody>
      </p:sp>
    </p:spTree>
    <p:extLst>
      <p:ext uri="{BB962C8B-B14F-4D97-AF65-F5344CB8AC3E}">
        <p14:creationId xmlns:p14="http://schemas.microsoft.com/office/powerpoint/2010/main" val="18270082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5">
            <a:extLst xmlns:a="http://schemas.openxmlformats.org/drawingml/2006/main">
              <a:ext uri="{FF2B5EF4-FFF2-40B4-BE49-F238E27FC236}">
                <a16:creationId xmlns:a16="http://schemas.microsoft.com/office/drawing/2014/main" id="{D5C3A8D6-50EF-4A11-BEA7-5D0B0B6D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O Dockerfile descreve a imagem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70427231-3F99-4E36-A40E-37500D2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3" name="key-FROM">
            <a:extLst xmlns:a="http://schemas.openxmlformats.org/drawingml/2006/main">
              <a:ext uri="{FF2B5EF4-FFF2-40B4-BE49-F238E27FC236}">
                <a16:creationId xmlns:a16="http://schemas.microsoft.com/office/drawing/2014/main" id="{206B895B-5877-44D8-9111-BE01ED32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FROM</a:t>
            </a:r>
          </a:p>
        </p:txBody>
      </p:sp>
      <p:sp>
        <p:nvSpPr>
          <p:cNvPr id="4" name="desc-FROM">
            <a:extLst xmlns:a="http://schemas.openxmlformats.org/drawingml/2006/main">
              <a:ext uri="{FF2B5EF4-FFF2-40B4-BE49-F238E27FC236}">
                <a16:creationId xmlns:a16="http://schemas.microsoft.com/office/drawing/2014/main" id="{55822696-4AE4-4370-8FFA-1C664EA6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define a imagem base</a:t>
            </a:r>
          </a:p>
        </p:txBody>
      </p:sp>
      <p:sp>
        <p:nvSpPr>
          <p:cNvPr id="5" name="key-WORKDIR">
            <a:extLst xmlns:a="http://schemas.openxmlformats.org/drawingml/2006/main">
              <a:ext uri="{FF2B5EF4-FFF2-40B4-BE49-F238E27FC236}">
                <a16:creationId xmlns:a16="http://schemas.microsoft.com/office/drawing/2014/main" id="{260AFFD1-EF20-41C2-9091-FF17C857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762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WORKDIR</a:t>
            </a:r>
          </a:p>
        </p:txBody>
      </p:sp>
      <p:sp>
        <p:nvSpPr>
          <p:cNvPr id="6" name="desc-WORKDIR">
            <a:extLst xmlns:a="http://schemas.openxmlformats.org/drawingml/2006/main">
              <a:ext uri="{FF2B5EF4-FFF2-40B4-BE49-F238E27FC236}">
                <a16:creationId xmlns:a16="http://schemas.microsoft.com/office/drawing/2014/main" id="{390B81BF-3082-4216-88E9-43DE9BD5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escolhe o diretório de trabalho</a:t>
            </a:r>
          </a:p>
        </p:txBody>
      </p:sp>
      <p:sp>
        <p:nvSpPr>
          <p:cNvPr id="7" name="key-COPY">
            <a:extLst xmlns:a="http://schemas.openxmlformats.org/drawingml/2006/main">
              <a:ext uri="{FF2B5EF4-FFF2-40B4-BE49-F238E27FC236}">
                <a16:creationId xmlns:a16="http://schemas.microsoft.com/office/drawing/2014/main" id="{62F54457-3377-4489-93B4-4D2A52DE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COPY</a:t>
            </a:r>
          </a:p>
        </p:txBody>
      </p:sp>
      <p:sp>
        <p:nvSpPr>
          <p:cNvPr id="8" name="desc-COPY">
            <a:extLst xmlns:a="http://schemas.openxmlformats.org/drawingml/2006/main">
              <a:ext uri="{FF2B5EF4-FFF2-40B4-BE49-F238E27FC236}">
                <a16:creationId xmlns:a16="http://schemas.microsoft.com/office/drawing/2014/main" id="{2E7BE6C3-AB7F-4FFE-8090-FBF0E964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leva arquivos para a imagem</a:t>
            </a:r>
          </a:p>
        </p:txBody>
      </p:sp>
      <p:sp>
        <p:nvSpPr>
          <p:cNvPr id="9" name="key-RUN">
            <a:extLst xmlns:a="http://schemas.openxmlformats.org/drawingml/2006/main">
              <a:ext uri="{FF2B5EF4-FFF2-40B4-BE49-F238E27FC236}">
                <a16:creationId xmlns:a16="http://schemas.microsoft.com/office/drawing/2014/main" id="{CCD140EC-6BC6-488E-8D80-4C32ED8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RUN</a:t>
            </a:r>
          </a:p>
        </p:txBody>
      </p:sp>
      <p:sp>
        <p:nvSpPr>
          <p:cNvPr id="10" name="desc-RUN">
            <a:extLst xmlns:a="http://schemas.openxmlformats.org/drawingml/2006/main">
              <a:ext uri="{FF2B5EF4-FFF2-40B4-BE49-F238E27FC236}">
                <a16:creationId xmlns:a16="http://schemas.microsoft.com/office/drawing/2014/main" id="{42617D33-69B0-4DF7-A7F9-03DFA0C1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29375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executa uma etapa durante o build</a:t>
            </a:r>
          </a:p>
        </p:txBody>
      </p:sp>
      <p:sp>
        <p:nvSpPr>
          <p:cNvPr id="11" name="key-EXPOSE">
            <a:extLst xmlns:a="http://schemas.openxmlformats.org/drawingml/2006/main">
              <a:ext uri="{FF2B5EF4-FFF2-40B4-BE49-F238E27FC236}">
                <a16:creationId xmlns:a16="http://schemas.microsoft.com/office/drawing/2014/main" id="{69E002C2-F50F-4A74-8BD5-1BAEEF58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715250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EXPOSE</a:t>
            </a:r>
          </a:p>
        </p:txBody>
      </p:sp>
      <p:sp>
        <p:nvSpPr>
          <p:cNvPr id="12" name="desc-EXPOSE">
            <a:extLst xmlns:a="http://schemas.openxmlformats.org/drawingml/2006/main">
              <a:ext uri="{FF2B5EF4-FFF2-40B4-BE49-F238E27FC236}">
                <a16:creationId xmlns:a16="http://schemas.microsoft.com/office/drawing/2014/main" id="{FEAD33D0-6C2A-4148-9049-4068F944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715250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documenta a porta usada pelo processo</a:t>
            </a:r>
          </a:p>
        </p:txBody>
      </p:sp>
      <p:sp>
        <p:nvSpPr>
          <p:cNvPr id="13" name="key-CMD">
            <a:extLst xmlns:a="http://schemas.openxmlformats.org/drawingml/2006/main">
              <a:ext uri="{FF2B5EF4-FFF2-40B4-BE49-F238E27FC236}">
                <a16:creationId xmlns:a16="http://schemas.microsoft.com/office/drawing/2014/main" id="{5C32A69D-6BC3-4896-8CDA-C5D39D76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00112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CMD</a:t>
            </a:r>
          </a:p>
        </p:txBody>
      </p:sp>
      <p:sp>
        <p:nvSpPr>
          <p:cNvPr id="14" name="desc-CMD">
            <a:extLst xmlns:a="http://schemas.openxmlformats.org/drawingml/2006/main">
              <a:ext uri="{FF2B5EF4-FFF2-40B4-BE49-F238E27FC236}">
                <a16:creationId xmlns:a16="http://schemas.microsoft.com/office/drawing/2014/main" id="{CEEC972F-2247-4038-8645-515EAE1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001125"/>
            <a:ext cx="1524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define o processo principal do container</a:t>
            </a:r>
          </a:p>
        </p:txBody>
      </p:sp>
    </p:spTree>
    <p:extLst>
      <p:ext uri="{BB962C8B-B14F-4D97-AF65-F5344CB8AC3E}">
        <p14:creationId xmlns:p14="http://schemas.microsoft.com/office/powerpoint/2010/main" val="9310146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8300D96C-9890-4C78-8D5A-FFAC6DED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Exemplo de Dockerfile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FC72EEE6-776E-47FC-B678-3FE178F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3" name="dockerfile-code">
            <a:extLst xmlns:a="http://schemas.openxmlformats.org/drawingml/2006/main">
              <a:ext uri="{FF2B5EF4-FFF2-40B4-BE49-F238E27FC236}">
                <a16:creationId xmlns:a16="http://schemas.microsoft.com/office/drawing/2014/main" id="{95A8188E-84E5-435E-9BC2-80F4BB1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3716000" cy="8191500"/>
          </a:xfrm>
          <a:prstGeom xmlns:a="http://schemas.openxmlformats.org/drawingml/2006/main" prst="roundRect">
            <a:avLst>
              <a:gd name="adj" fmla="val 930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FROM python:3.12-slim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WORKDIR /app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COPY requirements.txt .</a:t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RUN pip install --no-cache-dir -r requirements.txt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COPY .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EXPOSE 5050</a:t>
            </a:r>
          </a:p>
          <a:p xmlns:a="http://schemas.openxmlformats.org/drawingml/2006/main">
            <a:pPr algn="l">
              <a:def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18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CMD ["gunicorn", "--bind", "0.0.0.0:5050", "main:app"]</a:t>
            </a:r>
          </a:p>
        </p:txBody>
      </p:sp>
      <p:sp>
        <p:nvSpPr>
          <p:cNvPr id="4" name="dockerfile-notes">
            <a:extLst xmlns:a="http://schemas.openxmlformats.org/drawingml/2006/main">
              <a:ext uri="{FF2B5EF4-FFF2-40B4-BE49-F238E27FC236}">
                <a16:creationId xmlns:a16="http://schemas.microsoft.com/office/drawing/2014/main" id="{6E15BA93-B2B2-49F6-ACC6-3A7472CE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048000"/>
            <a:ext cx="6858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1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build cria a imagem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1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RUN acontece durante o build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1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CMD acontece quando o container inicia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1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EXPOSE não publica a porta no computador</a:t>
            </a:r>
          </a:p>
        </p:txBody>
      </p:sp>
      <p:sp>
        <p:nvSpPr>
          <p:cNvPr id="5" name="callout-gui2qp">
            <a:extLst xmlns:a="http://schemas.openxmlformats.org/drawingml/2006/main">
              <a:ext uri="{FF2B5EF4-FFF2-40B4-BE49-F238E27FC236}">
                <a16:creationId xmlns:a16="http://schemas.microsoft.com/office/drawing/2014/main" id="{B2D92FB6-6AAE-4B81-BBCF-985BF2E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Copiar as dependências antes do código ajuda a aproveitar o cache quando só o código muda.</a:t>
            </a:r>
          </a:p>
        </p:txBody>
      </p:sp>
    </p:spTree>
    <p:extLst>
      <p:ext uri="{BB962C8B-B14F-4D97-AF65-F5344CB8AC3E}">
        <p14:creationId xmlns:p14="http://schemas.microsoft.com/office/powerpoint/2010/main" val="18692944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13DD81AC-16DB-4676-9B63-968EA27C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Construção e identificação da imagem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066D8C22-9774-49B0-9EF2-717D2828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3" name="build-code">
            <a:extLst xmlns:a="http://schemas.openxmlformats.org/drawingml/2006/main">
              <a:ext uri="{FF2B5EF4-FFF2-40B4-BE49-F238E27FC236}">
                <a16:creationId xmlns:a16="http://schemas.microsoft.com/office/drawing/2014/main" id="{B9D46F2B-A979-444C-91C8-69BFE799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14287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build -t api-recados:1.0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image 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image inspect api-recados:1.0</a:t>
            </a:r>
          </a:p>
        </p:txBody>
      </p:sp>
      <p:sp>
        <p:nvSpPr>
          <p:cNvPr id="4" name="tag-title">
            <a:extLst xmlns:a="http://schemas.openxmlformats.org/drawingml/2006/main">
              <a:ext uri="{FF2B5EF4-FFF2-40B4-BE49-F238E27FC236}">
                <a16:creationId xmlns:a16="http://schemas.microsoft.com/office/drawing/2014/main" id="{7FE0B193-6EF6-4BF9-961C-6991010D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31908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Nome e tag</a:t>
            </a:r>
          </a:p>
        </p:txBody>
      </p:sp>
      <p:sp>
        <p:nvSpPr>
          <p:cNvPr id="5" name="tag-copy">
            <a:extLst xmlns:a="http://schemas.openxmlformats.org/drawingml/2006/main">
              <a:ext uri="{FF2B5EF4-FFF2-40B4-BE49-F238E27FC236}">
                <a16:creationId xmlns:a16="http://schemas.microsoft.com/office/drawing/2014/main" id="{2810F474-4B6E-454C-94C3-DB99285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4095750"/>
            <a:ext cx="5905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api-recados identifica 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1.0 identifica uma versão.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Uma alteração no Dockerfile ou no código exige um novo build.</a:t>
            </a:r>
          </a:p>
        </p:txBody>
      </p:sp>
      <p:sp>
        <p:nvSpPr>
          <p:cNvPr id="6" name="callout-00twl9">
            <a:extLst xmlns:a="http://schemas.openxmlformats.org/drawingml/2006/main">
              <a:ext uri="{FF2B5EF4-FFF2-40B4-BE49-F238E27FC236}">
                <a16:creationId xmlns:a16="http://schemas.microsoft.com/office/drawing/2014/main" id="{F370F01D-1AE8-4130-B662-8BBF66F5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A tag latest não explica qual versão está em uso. Tags explícitas facilitam testes e retorno.</a:t>
            </a:r>
          </a:p>
        </p:txBody>
      </p:sp>
    </p:spTree>
    <p:extLst>
      <p:ext uri="{BB962C8B-B14F-4D97-AF65-F5344CB8AC3E}">
        <p14:creationId xmlns:p14="http://schemas.microsoft.com/office/powerpoint/2010/main" val="11721792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8">
            <a:extLst xmlns:a="http://schemas.openxmlformats.org/drawingml/2006/main">
              <a:ext uri="{FF2B5EF4-FFF2-40B4-BE49-F238E27FC236}">
                <a16:creationId xmlns:a16="http://schemas.microsoft.com/office/drawing/2014/main" id="{73B5B119-28EB-45FF-AFCE-6A80C699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Imagem e container têm papéis diferentes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109820A7-041F-4485-B10D-B72A51A1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3" name="image-side">
            <a:extLst xmlns:a="http://schemas.openxmlformats.org/drawingml/2006/main">
              <a:ext uri="{FF2B5EF4-FFF2-40B4-BE49-F238E27FC236}">
                <a16:creationId xmlns:a16="http://schemas.microsoft.com/office/drawing/2014/main" id="{FA0F6D16-07A7-433F-BED0-9306913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8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IMAGEM</a:t>
            </a:r>
          </a:p>
        </p:txBody>
      </p:sp>
      <p:sp>
        <p:nvSpPr>
          <p:cNvPr id="4" name="image-list">
            <a:extLst xmlns:a="http://schemas.openxmlformats.org/drawingml/2006/main">
              <a:ext uri="{FF2B5EF4-FFF2-40B4-BE49-F238E27FC236}">
                <a16:creationId xmlns:a16="http://schemas.microsoft.com/office/drawing/2014/main" id="{E2973BB0-06AF-4CF1-BC6D-88D44B16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81500"/>
            <a:ext cx="8286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Resultado do build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Camadas somente leitura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Pode ser enviada a um registry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Não representa uma execução</a:t>
            </a:r>
          </a:p>
        </p:txBody>
      </p:sp>
      <p:sp>
        <p:nvSpPr>
          <p:cNvPr id="5" name="container-side">
            <a:extLst xmlns:a="http://schemas.openxmlformats.org/drawingml/2006/main">
              <a:ext uri="{FF2B5EF4-FFF2-40B4-BE49-F238E27FC236}">
                <a16:creationId xmlns:a16="http://schemas.microsoft.com/office/drawing/2014/main" id="{CA96A754-2D4D-47AA-A321-0952B4E2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952750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8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CONTAINER</a:t>
            </a:r>
          </a:p>
        </p:txBody>
      </p:sp>
      <p:sp>
        <p:nvSpPr>
          <p:cNvPr id="6" name="container-list">
            <a:extLst xmlns:a="http://schemas.openxmlformats.org/drawingml/2006/main">
              <a:ext uri="{FF2B5EF4-FFF2-40B4-BE49-F238E27FC236}">
                <a16:creationId xmlns:a16="http://schemas.microsoft.com/office/drawing/2014/main" id="{701F7CCD-75A4-4158-9FF6-15D55FEC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381500"/>
            <a:ext cx="8286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Criado a partir da imagem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Possui nome e estado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Executa um processo principal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Pode publicar portas e receber variáveis</a:t>
            </a:r>
          </a:p>
        </p:txBody>
      </p:sp>
      <p:sp>
        <p:nvSpPr>
          <p:cNvPr id="7" name="callout-u9jmff">
            <a:extLst xmlns:a="http://schemas.openxmlformats.org/drawingml/2006/main">
              <a:ext uri="{FF2B5EF4-FFF2-40B4-BE49-F238E27FC236}">
                <a16:creationId xmlns:a16="http://schemas.microsoft.com/office/drawing/2014/main" id="{4137DA89-D1D4-4A7B-A591-7D8B7028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Alterar um arquivo dentro do container não atualiza a imagem que o criou.</a:t>
            </a:r>
          </a:p>
        </p:txBody>
      </p:sp>
    </p:spTree>
    <p:extLst>
      <p:ext uri="{BB962C8B-B14F-4D97-AF65-F5344CB8AC3E}">
        <p14:creationId xmlns:p14="http://schemas.microsoft.com/office/powerpoint/2010/main" val="21335305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94BE73E3-E18D-44BF-A5F5-B952B6F1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Criação do container e publicação de porta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6A290252-658F-4D5B-99A8-266FC3E2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3" name="run-code">
            <a:extLst xmlns:a="http://schemas.openxmlformats.org/drawingml/2006/main">
              <a:ext uri="{FF2B5EF4-FFF2-40B4-BE49-F238E27FC236}">
                <a16:creationId xmlns:a16="http://schemas.microsoft.com/office/drawing/2014/main" id="{101236A9-7584-4464-965E-6FC9ED55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2095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run -d --name recados -p 9100:5050 api-recados:1.0</a:t>
            </a:r>
          </a:p>
        </p:txBody>
      </p:sp>
      <p:sp>
        <p:nvSpPr>
          <p:cNvPr id="4" name="host-port">
            <a:extLst xmlns:a="http://schemas.openxmlformats.org/drawingml/2006/main">
              <a:ext uri="{FF2B5EF4-FFF2-40B4-BE49-F238E27FC236}">
                <a16:creationId xmlns:a16="http://schemas.microsoft.com/office/drawing/2014/main" id="{A0F3DE77-2C96-4048-BD67-F464F393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0250"/>
            <a:ext cx="666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COMPUTADOR</a:t>
            </a:r>
          </a:p>
          <a:p xmlns:a="http://schemas.openxmlformats.org/drawingml/2006/main">
            <a:pPr algn="ctr">
              <a:def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localhost:9100</a:t>
            </a:r>
          </a:p>
        </p:txBody>
      </p:sp>
      <p:sp>
        <p:nvSpPr>
          <p:cNvPr id="5" name="container-port">
            <a:extLst xmlns:a="http://schemas.openxmlformats.org/drawingml/2006/main">
              <a:ext uri="{FF2B5EF4-FFF2-40B4-BE49-F238E27FC236}">
                <a16:creationId xmlns:a16="http://schemas.microsoft.com/office/drawing/2014/main" id="{215FE8E4-7B5A-48D2-8B3D-42167AB6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810250"/>
            <a:ext cx="666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CONTAINER</a:t>
            </a:r>
          </a:p>
          <a:p xmlns:a="http://schemas.openxmlformats.org/drawingml/2006/main">
            <a:pPr algn="ctr">
              <a:def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processo em 5050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144000" y="6858000"/>
            <a:ext cx="6096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4F3292"/>
            </a:solidFill>
            <a:prstDash val="solid"/>
            <a:tailEnd type="arrow" w="med" len="med"/>
          </a:ln>
        </p:spPr>
      </p:cxnSp>
      <p:sp>
        <p:nvSpPr>
          <p:cNvPr id="7" name="port-map">
            <a:extLst xmlns:a="http://schemas.openxmlformats.org/drawingml/2006/main">
              <a:ext uri="{FF2B5EF4-FFF2-40B4-BE49-F238E27FC236}">
                <a16:creationId xmlns:a16="http://schemas.microsoft.com/office/drawing/2014/main" id="{0AAD9933-61D1-4570-9AE5-57EEC3C0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17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-p 9100:5050</a:t>
            </a:r>
          </a:p>
        </p:txBody>
      </p:sp>
      <p:sp>
        <p:nvSpPr>
          <p:cNvPr id="8" name="callout-70kuw8">
            <a:extLst xmlns:a="http://schemas.openxmlformats.org/drawingml/2006/main">
              <a:ext uri="{FF2B5EF4-FFF2-40B4-BE49-F238E27FC236}">
                <a16:creationId xmlns:a16="http://schemas.microsoft.com/office/drawing/2014/main" id="{234EC7FB-2300-4C46-B3D3-1618358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A porta à esquerda pertence ao computador. A porta à direita pertence ao container.</a:t>
            </a:r>
          </a:p>
        </p:txBody>
      </p:sp>
    </p:spTree>
    <p:extLst>
      <p:ext uri="{BB962C8B-B14F-4D97-AF65-F5344CB8AC3E}">
        <p14:creationId xmlns:p14="http://schemas.microsoft.com/office/powerpoint/2010/main" val="19442387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0">
            <a:extLst xmlns:a="http://schemas.openxmlformats.org/drawingml/2006/main">
              <a:ext uri="{FF2B5EF4-FFF2-40B4-BE49-F238E27FC236}">
                <a16:creationId xmlns:a16="http://schemas.microsoft.com/office/drawing/2014/main" id="{A21AA4D9-C78D-442D-BB8A-029885BF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Comandos para observar e controlar</a:t>
            </a:r>
          </a:p>
        </p:txBody>
      </p:sp>
      <p:sp>
        <p:nvSpPr>
          <p:cNvPr id="2" name="number-10">
            <a:extLst xmlns:a="http://schemas.openxmlformats.org/drawingml/2006/main">
              <a:ext uri="{FF2B5EF4-FFF2-40B4-BE49-F238E27FC236}">
                <a16:creationId xmlns:a16="http://schemas.microsoft.com/office/drawing/2014/main" id="{BA7BD1B5-D17A-452A-9539-9C1212E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3" name="lifecycle-code">
            <a:extLst xmlns:a="http://schemas.openxmlformats.org/drawingml/2006/main">
              <a:ext uri="{FF2B5EF4-FFF2-40B4-BE49-F238E27FC236}">
                <a16:creationId xmlns:a16="http://schemas.microsoft.com/office/drawing/2014/main" id="{8AB3A00C-DCFA-42B6-ADE2-90DD1DB0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11239500" cy="66675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ps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logs -f recados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exec -it recados sh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stop recados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start recados</a:t>
            </a:r>
          </a:p>
          <a:p xmlns:a="http://schemas.openxmlformats.org/drawingml/2006/main">
            <a:pPr algn="l">
              <a:def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0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rm -f recados</a:t>
            </a:r>
          </a:p>
        </p:txBody>
      </p:sp>
      <p:sp>
        <p:nvSpPr>
          <p:cNvPr id="4" name="lifecycle-title">
            <a:extLst xmlns:a="http://schemas.openxmlformats.org/drawingml/2006/main">
              <a:ext uri="{FF2B5EF4-FFF2-40B4-BE49-F238E27FC236}">
                <a16:creationId xmlns:a16="http://schemas.microsoft.com/office/drawing/2014/main" id="{ABBB1F1B-7D14-4FDE-87C5-B7FC8A94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8575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Perguntas para o diagnóstico</a:t>
            </a:r>
          </a:p>
        </p:txBody>
      </p:sp>
      <p:sp>
        <p:nvSpPr>
          <p:cNvPr id="5" name="lifecycle-questions">
            <a:extLst xmlns:a="http://schemas.openxmlformats.org/drawingml/2006/main">
              <a:ext uri="{FF2B5EF4-FFF2-40B4-BE49-F238E27FC236}">
                <a16:creationId xmlns:a16="http://schemas.microsoft.com/office/drawing/2014/main" id="{358ED727-7F2F-4F15-B39C-9670D265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000500"/>
            <a:ext cx="76200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container está em execução?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Qual porta foi publicada?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processo iniciou sem erro?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A requisição chegou ao serviço?</a:t>
            </a:r>
          </a:p>
        </p:txBody>
      </p:sp>
      <p:sp>
        <p:nvSpPr>
          <p:cNvPr id="6" name="callout-42yck3">
            <a:extLst xmlns:a="http://schemas.openxmlformats.org/drawingml/2006/main">
              <a:ext uri="{FF2B5EF4-FFF2-40B4-BE49-F238E27FC236}">
                <a16:creationId xmlns:a16="http://schemas.microsoft.com/office/drawing/2014/main" id="{B7944C51-0530-4FC0-BC2E-EDFE3B40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O log mostra o que o processo escreveu. Ele costuma ser a primeira evidência útil.</a:t>
            </a:r>
          </a:p>
        </p:txBody>
      </p:sp>
    </p:spTree>
    <p:extLst>
      <p:ext uri="{BB962C8B-B14F-4D97-AF65-F5344CB8AC3E}">
        <p14:creationId xmlns:p14="http://schemas.microsoft.com/office/powerpoint/2010/main" val="12084238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6868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ection-title-11">
            <a:extLst xmlns:a="http://schemas.openxmlformats.org/drawingml/2006/main">
              <a:ext uri="{FF2B5EF4-FFF2-40B4-BE49-F238E27FC236}">
                <a16:creationId xmlns:a16="http://schemas.microsoft.com/office/drawing/2014/main" id="{931E3CC9-B8A2-478E-AD29-DF125538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000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Docker Compose</a:t>
            </a:r>
          </a:p>
        </p:txBody>
      </p:sp>
      <p:sp>
        <p:nvSpPr>
          <p:cNvPr id="2" name="section-subtitle-11">
            <a:extLst xmlns:a="http://schemas.openxmlformats.org/drawingml/2006/main">
              <a:ext uri="{FF2B5EF4-FFF2-40B4-BE49-F238E27FC236}">
                <a16:creationId xmlns:a16="http://schemas.microsoft.com/office/drawing/2014/main" id="{DF13D19F-3EB7-4B1E-A33B-61861457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572250"/>
            <a:ext cx="1771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Vários serviços descritos em um único arquivo</a:t>
            </a:r>
          </a:p>
        </p:txBody>
      </p:sp>
      <p:sp>
        <p:nvSpPr>
          <p:cNvPr id="3" name="section-number-11">
            <a:extLst xmlns:a="http://schemas.openxmlformats.org/drawingml/2006/main">
              <a:ext uri="{FF2B5EF4-FFF2-40B4-BE49-F238E27FC236}">
                <a16:creationId xmlns:a16="http://schemas.microsoft.com/office/drawing/2014/main" id="{6BD3A526-5945-4C5E-B795-117F387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66855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12">
            <a:extLst xmlns:a="http://schemas.openxmlformats.org/drawingml/2006/main">
              <a:ext uri="{FF2B5EF4-FFF2-40B4-BE49-F238E27FC236}">
                <a16:creationId xmlns:a16="http://schemas.microsoft.com/office/drawing/2014/main" id="{F3184B24-FA95-43E6-A163-0B6FBC86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O problema que o Compose resolve</a:t>
            </a:r>
          </a:p>
        </p:txBody>
      </p:sp>
      <p:sp>
        <p:nvSpPr>
          <p:cNvPr id="2" name="number-12">
            <a:extLst xmlns:a="http://schemas.openxmlformats.org/drawingml/2006/main">
              <a:ext uri="{FF2B5EF4-FFF2-40B4-BE49-F238E27FC236}">
                <a16:creationId xmlns:a16="http://schemas.microsoft.com/office/drawing/2014/main" id="{46219D2E-64E9-4478-8648-BEF04AEF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3" name="compose-problem">
            <a:extLst xmlns:a="http://schemas.openxmlformats.org/drawingml/2006/main">
              <a:ext uri="{FF2B5EF4-FFF2-40B4-BE49-F238E27FC236}">
                <a16:creationId xmlns:a16="http://schemas.microsoft.com/office/drawing/2014/main" id="{238703F6-E9D3-42F6-B9E1-5B7CD120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200025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6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6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Uma aplicação pode depender de frontend, API e banco de dados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6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6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Cada serviço precisa de imagem, configuração, rede e armazenamento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6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6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Uma sequência longa de docker run é difícil de repetir e revisar</a:t>
            </a:r>
          </a:p>
          <a:p xmlns:a="http://schemas.openxmlformats.org/drawingml/2006/main">
            <a:pPr marL="254000" indent="-127000">
              <a:spcAft>
                <a:spcPts val="1800"/>
              </a:spcAft>
              <a:buChar char="•"/>
              <a:defRPr sz="26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6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arquivo Compose registra como os serviços trabalham juntos</a:t>
            </a:r>
          </a:p>
        </p:txBody>
      </p:sp>
      <p:sp>
        <p:nvSpPr>
          <p:cNvPr id="4" name="callout-f27r8w">
            <a:extLst xmlns:a="http://schemas.openxmlformats.org/drawingml/2006/main">
              <a:ext uri="{FF2B5EF4-FFF2-40B4-BE49-F238E27FC236}">
                <a16:creationId xmlns:a16="http://schemas.microsoft.com/office/drawing/2014/main" id="{C2F9A469-90CF-4995-BB97-19D5A91F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Compose descreve a execução. Dockerfiles descrevem como construir as imagens.</a:t>
            </a:r>
          </a:p>
        </p:txBody>
      </p:sp>
    </p:spTree>
    <p:extLst>
      <p:ext uri="{BB962C8B-B14F-4D97-AF65-F5344CB8AC3E}">
        <p14:creationId xmlns:p14="http://schemas.microsoft.com/office/powerpoint/2010/main" val="7143210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3">
            <a:extLst xmlns:a="http://schemas.openxmlformats.org/drawingml/2006/main">
              <a:ext uri="{FF2B5EF4-FFF2-40B4-BE49-F238E27FC236}">
                <a16:creationId xmlns:a16="http://schemas.microsoft.com/office/drawing/2014/main" id="{EEB2AAA1-6B45-4206-B93E-655481BE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Estrutura de um arquivo Compose</a:t>
            </a:r>
          </a:p>
        </p:txBody>
      </p:sp>
      <p:sp>
        <p:nvSpPr>
          <p:cNvPr id="2" name="number-13">
            <a:extLst xmlns:a="http://schemas.openxmlformats.org/drawingml/2006/main">
              <a:ext uri="{FF2B5EF4-FFF2-40B4-BE49-F238E27FC236}">
                <a16:creationId xmlns:a16="http://schemas.microsoft.com/office/drawing/2014/main" id="{B3510102-AFBC-40E7-BCCF-9A3248E8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3" name="compose-structure">
            <a:extLst xmlns:a="http://schemas.openxmlformats.org/drawingml/2006/main">
              <a:ext uri="{FF2B5EF4-FFF2-40B4-BE49-F238E27FC236}">
                <a16:creationId xmlns:a16="http://schemas.microsoft.com/office/drawing/2014/main" id="{0635A8B3-5669-4C01-B79C-1556B788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10287000" cy="7143750"/>
          </a:xfrm>
          <a:prstGeom xmlns:a="http://schemas.openxmlformats.org/drawingml/2006/main" prst="roundRect">
            <a:avLst>
              <a:gd name="adj" fmla="val 1067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services: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site: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build: ./frontend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ports: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  - "8080:80"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api:</a:t>
            </a:r>
          </a:p>
          <a:p xmlns:a="http://schemas.openxmlformats.org/drawingml/2006/main">
            <a:pPr algn="l">
              <a:def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3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build: ./backend</a:t>
            </a:r>
          </a:p>
        </p:txBody>
      </p:sp>
      <p:sp>
        <p:nvSpPr>
          <p:cNvPr id="4" name="compose-fields-title">
            <a:extLst xmlns:a="http://schemas.openxmlformats.org/drawingml/2006/main">
              <a:ext uri="{FF2B5EF4-FFF2-40B4-BE49-F238E27FC236}">
                <a16:creationId xmlns:a16="http://schemas.microsoft.com/office/drawing/2014/main" id="{28895975-1772-459D-BA9F-AB38BF2A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14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Campos mais usados</a:t>
            </a:r>
          </a:p>
        </p:txBody>
      </p:sp>
      <p:sp>
        <p:nvSpPr>
          <p:cNvPr id="5" name="compose-fields">
            <a:extLst xmlns:a="http://schemas.openxmlformats.org/drawingml/2006/main">
              <a:ext uri="{FF2B5EF4-FFF2-40B4-BE49-F238E27FC236}">
                <a16:creationId xmlns:a16="http://schemas.microsoft.com/office/drawing/2014/main" id="{DF13DE85-840E-4AC5-A93D-E05CA5D1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810000"/>
            <a:ext cx="8763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services define os containers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build indica onde está o Dockerfile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image usa uma imagem já construída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ports publica uma porta no computador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environment envia configurações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217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volumes preserva ou compartilha arquivos</a:t>
            </a:r>
          </a:p>
        </p:txBody>
      </p:sp>
    </p:spTree>
    <p:extLst>
      <p:ext uri="{BB962C8B-B14F-4D97-AF65-F5344CB8AC3E}">
        <p14:creationId xmlns:p14="http://schemas.microsoft.com/office/powerpoint/2010/main" val="16580167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4">
            <a:extLst xmlns:a="http://schemas.openxmlformats.org/drawingml/2006/main">
              <a:ext uri="{FF2B5EF4-FFF2-40B4-BE49-F238E27FC236}">
                <a16:creationId xmlns:a16="http://schemas.microsoft.com/office/drawing/2014/main" id="{E5C301CB-2B27-4A5E-B4FD-1BD30B57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Compose com frontend e backend</a:t>
            </a:r>
          </a:p>
        </p:txBody>
      </p:sp>
      <p:sp>
        <p:nvSpPr>
          <p:cNvPr id="2" name="number-14">
            <a:extLst xmlns:a="http://schemas.openxmlformats.org/drawingml/2006/main">
              <a:ext uri="{FF2B5EF4-FFF2-40B4-BE49-F238E27FC236}">
                <a16:creationId xmlns:a16="http://schemas.microsoft.com/office/drawing/2014/main" id="{E6A233A4-1FE1-4344-85F8-25CF3BE0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3" name="compose-full">
            <a:extLst xmlns:a="http://schemas.openxmlformats.org/drawingml/2006/main">
              <a:ext uri="{FF2B5EF4-FFF2-40B4-BE49-F238E27FC236}">
                <a16:creationId xmlns:a16="http://schemas.microsoft.com/office/drawing/2014/main" id="{10DF8C00-2C6C-400B-9D1D-E8B87F1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11906250" cy="7905750"/>
          </a:xfrm>
          <a:prstGeom xmlns:a="http://schemas.openxmlformats.org/drawingml/2006/main" prst="roundRect">
            <a:avLst>
              <a:gd name="adj" fmla="val 964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services: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frontend: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build: ./frontend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ports: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  - "8080:80"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depends_on: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  - backend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backend:</a:t>
            </a:r>
          </a:p>
          <a:p xmlns:a="http://schemas.openxmlformats.org/drawingml/2006/main">
            <a:pPr algn="l">
              <a:def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17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build: ./backend</a:t>
            </a:r>
          </a:p>
        </p:txBody>
      </p:sp>
      <p:sp>
        <p:nvSpPr>
          <p:cNvPr id="4" name="compose-full-notes">
            <a:extLst xmlns:a="http://schemas.openxmlformats.org/drawingml/2006/main">
              <a:ext uri="{FF2B5EF4-FFF2-40B4-BE49-F238E27FC236}">
                <a16:creationId xmlns:a16="http://schemas.microsoft.com/office/drawing/2014/main" id="{252F8F3F-F75E-4E69-9644-85A57022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238500"/>
            <a:ext cx="7810500" cy="57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25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usuário acessa somente o frontend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25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backend fica disponível na rede interna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25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O nome backend funciona como endereço interno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225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25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A porta interna vem do processo no container</a:t>
            </a:r>
          </a:p>
        </p:txBody>
      </p:sp>
      <p:sp>
        <p:nvSpPr>
          <p:cNvPr id="5" name="callout-lesgiv">
            <a:extLst xmlns:a="http://schemas.openxmlformats.org/drawingml/2006/main">
              <a:ext uri="{FF2B5EF4-FFF2-40B4-BE49-F238E27FC236}">
                <a16:creationId xmlns:a16="http://schemas.microsoft.com/office/drawing/2014/main" id="{FC8436C6-DEED-4FA9-8639-B3A0D5A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O mapeamento 8080:80 não muda a porta usada entre os serviços.</a:t>
            </a:r>
          </a:p>
        </p:txBody>
      </p:sp>
    </p:spTree>
    <p:extLst>
      <p:ext uri="{BB962C8B-B14F-4D97-AF65-F5344CB8AC3E}">
        <p14:creationId xmlns:p14="http://schemas.microsoft.com/office/powerpoint/2010/main" val="16288965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5">
            <a:extLst xmlns:a="http://schemas.openxmlformats.org/drawingml/2006/main">
              <a:ext uri="{FF2B5EF4-FFF2-40B4-BE49-F238E27FC236}">
                <a16:creationId xmlns:a16="http://schemas.microsoft.com/office/drawing/2014/main" id="{1E0DC4E1-4FA6-498D-8E8A-9E2993E6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Rede interna e nomes de serviço</a:t>
            </a:r>
          </a:p>
        </p:txBody>
      </p:sp>
      <p:sp>
        <p:nvSpPr>
          <p:cNvPr id="2" name="number-15">
            <a:extLst xmlns:a="http://schemas.openxmlformats.org/drawingml/2006/main">
              <a:ext uri="{FF2B5EF4-FFF2-40B4-BE49-F238E27FC236}">
                <a16:creationId xmlns:a16="http://schemas.microsoft.com/office/drawing/2014/main" id="{A6336284-3E07-49D9-8EFC-233A814A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3" name="browser">
            <a:extLst xmlns:a="http://schemas.openxmlformats.org/drawingml/2006/main">
              <a:ext uri="{FF2B5EF4-FFF2-40B4-BE49-F238E27FC236}">
                <a16:creationId xmlns:a16="http://schemas.microsoft.com/office/drawing/2014/main" id="{F5BB5257-048D-4A60-BB0B-0515A32B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571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3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NAVEGADOR</a:t>
            </a:r>
          </a:p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localhost:8080</a:t>
            </a:r>
          </a:p>
        </p:txBody>
      </p:sp>
      <p:sp>
        <p:nvSpPr>
          <p:cNvPr id="4" name="front">
            <a:extLst xmlns:a="http://schemas.openxmlformats.org/drawingml/2006/main">
              <a:ext uri="{FF2B5EF4-FFF2-40B4-BE49-F238E27FC236}">
                <a16:creationId xmlns:a16="http://schemas.microsoft.com/office/drawing/2014/main" id="{1DC3E73C-2819-4B66-BB31-A411C88E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571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FRONTEND</a:t>
            </a:r>
          </a:p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Nginx na porta 80</a:t>
            </a:r>
          </a:p>
        </p:txBody>
      </p:sp>
      <p:sp>
        <p:nvSpPr>
          <p:cNvPr id="5" name="back">
            <a:extLst xmlns:a="http://schemas.openxmlformats.org/drawingml/2006/main">
              <a:ext uri="{FF2B5EF4-FFF2-40B4-BE49-F238E27FC236}">
                <a16:creationId xmlns:a16="http://schemas.microsoft.com/office/drawing/2014/main" id="{8354EEDB-6458-4893-8C3F-957B5CF7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4953000"/>
            <a:ext cx="5715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BACKEND</a:t>
            </a:r>
          </a:p>
          <a:p xmlns:a="http://schemas.openxmlformats.org/drawingml/2006/main">
            <a:pPr algn="ctr">
              <a:def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backend:5050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143750" y="59531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F3292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5049500" y="5953125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F3292"/>
            </a:solidFill>
            <a:prstDash val="solid"/>
            <a:tailEnd type="arrow" w="med" len="med"/>
          </a:ln>
        </p:spPr>
      </p:cxnSp>
      <p:sp>
        <p:nvSpPr>
          <p:cNvPr id="8" name="public-label">
            <a:extLst xmlns:a="http://schemas.openxmlformats.org/drawingml/2006/main">
              <a:ext uri="{FF2B5EF4-FFF2-40B4-BE49-F238E27FC236}">
                <a16:creationId xmlns:a16="http://schemas.microsoft.com/office/drawing/2014/main" id="{29166371-0FD5-45FA-9535-02F5B32C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3342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porta publicada</a:t>
            </a:r>
          </a:p>
        </p:txBody>
      </p:sp>
      <p:sp>
        <p:nvSpPr>
          <p:cNvPr id="9" name="internal-label">
            <a:extLst xmlns:a="http://schemas.openxmlformats.org/drawingml/2006/main">
              <a:ext uri="{FF2B5EF4-FFF2-40B4-BE49-F238E27FC236}">
                <a16:creationId xmlns:a16="http://schemas.microsoft.com/office/drawing/2014/main" id="{AA54ACF6-A144-42A9-A00E-5FC11200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73342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rede do Compose</a:t>
            </a:r>
          </a:p>
        </p:txBody>
      </p:sp>
      <p:sp>
        <p:nvSpPr>
          <p:cNvPr id="10" name="callout-awtjph">
            <a:extLst xmlns:a="http://schemas.openxmlformats.org/drawingml/2006/main">
              <a:ext uri="{FF2B5EF4-FFF2-40B4-BE49-F238E27FC236}">
                <a16:creationId xmlns:a16="http://schemas.microsoft.com/office/drawing/2014/main" id="{68B7A1CA-BF31-432A-9020-0E3401BE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O navegador não conhece o nome backend. O Nginx usa esse nome dentro da rede do Compose.</a:t>
            </a:r>
          </a:p>
        </p:txBody>
      </p:sp>
    </p:spTree>
    <p:extLst>
      <p:ext uri="{BB962C8B-B14F-4D97-AF65-F5344CB8AC3E}">
        <p14:creationId xmlns:p14="http://schemas.microsoft.com/office/powerpoint/2010/main" val="191473149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6">
            <a:extLst xmlns:a="http://schemas.openxmlformats.org/drawingml/2006/main">
              <a:ext uri="{FF2B5EF4-FFF2-40B4-BE49-F238E27FC236}">
                <a16:creationId xmlns:a16="http://schemas.microsoft.com/office/drawing/2014/main" id="{BBF3849D-9040-437F-9790-1CACF137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Proxy reverso no frontend</a:t>
            </a:r>
          </a:p>
        </p:txBody>
      </p:sp>
      <p:sp>
        <p:nvSpPr>
          <p:cNvPr id="2" name="number-16">
            <a:extLst xmlns:a="http://schemas.openxmlformats.org/drawingml/2006/main">
              <a:ext uri="{FF2B5EF4-FFF2-40B4-BE49-F238E27FC236}">
                <a16:creationId xmlns:a16="http://schemas.microsoft.com/office/drawing/2014/main" id="{C1E61E52-276C-4993-A1C3-8796528B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3" name="nginx-code">
            <a:extLst xmlns:a="http://schemas.openxmlformats.org/drawingml/2006/main">
              <a:ext uri="{FF2B5EF4-FFF2-40B4-BE49-F238E27FC236}">
                <a16:creationId xmlns:a16="http://schemas.microsoft.com/office/drawing/2014/main" id="{5D91AE1D-D323-4CAC-ABB6-B1D1ACF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13811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location /api/ {</a:t>
            </a:r>
          </a:p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proxy_pass http://backend:5050/;</a:t>
            </a:r>
          </a:p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proxy_set_header Host $host;</a:t>
            </a:r>
          </a:p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    proxy_set_header X-Forwarded-For $proxy_add_x_forwarded_for;</a:t>
            </a:r>
          </a:p>
          <a:p xmlns:a="http://schemas.openxmlformats.org/drawingml/2006/main">
            <a:pPr algn="l">
              <a:def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025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}</a:t>
            </a:r>
          </a:p>
        </p:txBody>
      </p:sp>
      <p:sp>
        <p:nvSpPr>
          <p:cNvPr id="4" name="proxy-example-title">
            <a:extLst xmlns:a="http://schemas.openxmlformats.org/drawingml/2006/main">
              <a:ext uri="{FF2B5EF4-FFF2-40B4-BE49-F238E27FC236}">
                <a16:creationId xmlns:a16="http://schemas.microsoft.com/office/drawing/2014/main" id="{DE6083A9-8BB4-4392-8A0D-9578E089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3143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25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Exemplo de tradução</a:t>
            </a:r>
          </a:p>
        </p:txBody>
      </p:sp>
      <p:sp>
        <p:nvSpPr>
          <p:cNvPr id="5" name="proxy-example">
            <a:extLst xmlns:a="http://schemas.openxmlformats.org/drawingml/2006/main">
              <a:ext uri="{FF2B5EF4-FFF2-40B4-BE49-F238E27FC236}">
                <a16:creationId xmlns:a16="http://schemas.microsoft.com/office/drawing/2014/main" id="{4468BE4A-D975-45AF-84AB-D1068EB7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4333875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/api/rotas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chega ao backend como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/rotas</a:t>
            </a:r>
          </a:p>
        </p:txBody>
      </p:sp>
      <p:sp>
        <p:nvSpPr>
          <p:cNvPr id="6" name="callout-al652q">
            <a:extLst xmlns:a="http://schemas.openxmlformats.org/drawingml/2006/main">
              <a:ext uri="{FF2B5EF4-FFF2-40B4-BE49-F238E27FC236}">
                <a16:creationId xmlns:a16="http://schemas.microsoft.com/office/drawing/2014/main" id="{2741CC9B-0FFC-4624-BC30-7E93EF04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A barra final de proxy_pass muda o caminho encaminhado. A porta deve coincidir com a porta interna do backend.</a:t>
            </a:r>
          </a:p>
        </p:txBody>
      </p:sp>
    </p:spTree>
    <p:extLst>
      <p:ext uri="{BB962C8B-B14F-4D97-AF65-F5344CB8AC3E}">
        <p14:creationId xmlns:p14="http://schemas.microsoft.com/office/powerpoint/2010/main" val="1100616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7">
            <a:extLst xmlns:a="http://schemas.openxmlformats.org/drawingml/2006/main">
              <a:ext uri="{FF2B5EF4-FFF2-40B4-BE49-F238E27FC236}">
                <a16:creationId xmlns:a16="http://schemas.microsoft.com/office/drawing/2014/main" id="{C51C766D-0756-420E-AEBC-44F3BEC0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Dependências volumes e configuração</a:t>
            </a:r>
          </a:p>
        </p:txBody>
      </p:sp>
      <p:sp>
        <p:nvSpPr>
          <p:cNvPr id="2" name="number-17">
            <a:extLst xmlns:a="http://schemas.openxmlformats.org/drawingml/2006/main">
              <a:ext uri="{FF2B5EF4-FFF2-40B4-BE49-F238E27FC236}">
                <a16:creationId xmlns:a16="http://schemas.microsoft.com/office/drawing/2014/main" id="{6637EB34-35FA-460C-91C7-E9FBF428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sp>
        <p:nvSpPr>
          <p:cNvPr id="3" name="compose-concept-depends_on">
            <a:extLst xmlns:a="http://schemas.openxmlformats.org/drawingml/2006/main">
              <a:ext uri="{FF2B5EF4-FFF2-40B4-BE49-F238E27FC236}">
                <a16:creationId xmlns:a16="http://schemas.microsoft.com/office/drawing/2014/main" id="{96B5D023-3E08-424A-99EC-492D4E6B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depends_on</a:t>
            </a:r>
          </a:p>
        </p:txBody>
      </p:sp>
      <p:sp>
        <p:nvSpPr>
          <p:cNvPr id="4" name="compose-copy-depends_on">
            <a:extLst xmlns:a="http://schemas.openxmlformats.org/drawingml/2006/main">
              <a:ext uri="{FF2B5EF4-FFF2-40B4-BE49-F238E27FC236}">
                <a16:creationId xmlns:a16="http://schemas.microsoft.com/office/drawing/2014/main" id="{3455A9B1-5A4D-4E00-8455-704FF0C8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Registra dependência e ordem de início. Sozinho, não garante que a aplicação já esteja pronta.</a:t>
            </a:r>
          </a:p>
        </p:txBody>
      </p:sp>
      <p:sp>
        <p:nvSpPr>
          <p:cNvPr id="5" name="compose-concept-volumes">
            <a:extLst xmlns:a="http://schemas.openxmlformats.org/drawingml/2006/main">
              <a:ext uri="{FF2B5EF4-FFF2-40B4-BE49-F238E27FC236}">
                <a16:creationId xmlns:a16="http://schemas.microsoft.com/office/drawing/2014/main" id="{325C68D9-727E-40BC-92E4-5D1E7A8D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volumes</a:t>
            </a:r>
          </a:p>
        </p:txBody>
      </p:sp>
      <p:sp>
        <p:nvSpPr>
          <p:cNvPr id="6" name="compose-copy-volumes">
            <a:extLst xmlns:a="http://schemas.openxmlformats.org/drawingml/2006/main">
              <a:ext uri="{FF2B5EF4-FFF2-40B4-BE49-F238E27FC236}">
                <a16:creationId xmlns:a16="http://schemas.microsoft.com/office/drawing/2014/main" id="{9509D0B5-7330-44D7-9241-8B10C26B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Mantém dados fora da camada gravável do container ou compartilha arquivos necessários.</a:t>
            </a:r>
          </a:p>
        </p:txBody>
      </p:sp>
      <p:sp>
        <p:nvSpPr>
          <p:cNvPr id="7" name="compose-concept-environment">
            <a:extLst xmlns:a="http://schemas.openxmlformats.org/drawingml/2006/main">
              <a:ext uri="{FF2B5EF4-FFF2-40B4-BE49-F238E27FC236}">
                <a16:creationId xmlns:a16="http://schemas.microsoft.com/office/drawing/2014/main" id="{A19188A0-BE8E-43B4-AEAB-7507B74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3143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environment</a:t>
            </a:r>
          </a:p>
        </p:txBody>
      </p:sp>
      <p:sp>
        <p:nvSpPr>
          <p:cNvPr id="8" name="compose-copy-environment">
            <a:extLst xmlns:a="http://schemas.openxmlformats.org/drawingml/2006/main">
              <a:ext uri="{FF2B5EF4-FFF2-40B4-BE49-F238E27FC236}">
                <a16:creationId xmlns:a16="http://schemas.microsoft.com/office/drawing/2014/main" id="{3CAE39AE-31E5-4403-9AE8-F044D6A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44767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Entrega valores que variam entre ambientes sem criar outra imagem.</a:t>
            </a:r>
          </a:p>
        </p:txBody>
      </p:sp>
      <p:sp>
        <p:nvSpPr>
          <p:cNvPr id="9" name="callout-hdm588">
            <a:extLst xmlns:a="http://schemas.openxmlformats.org/drawingml/2006/main">
              <a:ext uri="{FF2B5EF4-FFF2-40B4-BE49-F238E27FC236}">
                <a16:creationId xmlns:a16="http://schemas.microsoft.com/office/drawing/2014/main" id="{80F30FB8-ACA5-4F95-8BDA-AD3A1148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Quando prontidão importa, combine healthcheck com uma condição de dependência adequada.</a:t>
            </a:r>
          </a:p>
        </p:txBody>
      </p:sp>
    </p:spTree>
    <p:extLst>
      <p:ext uri="{BB962C8B-B14F-4D97-AF65-F5344CB8AC3E}">
        <p14:creationId xmlns:p14="http://schemas.microsoft.com/office/powerpoint/2010/main" val="8886983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8">
            <a:extLst xmlns:a="http://schemas.openxmlformats.org/drawingml/2006/main">
              <a:ext uri="{FF2B5EF4-FFF2-40B4-BE49-F238E27FC236}">
                <a16:creationId xmlns:a16="http://schemas.microsoft.com/office/drawing/2014/main" id="{CF04BCA9-D570-46EE-916B-B40199ED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Fluxo de uso do Compose</a:t>
            </a:r>
          </a:p>
        </p:txBody>
      </p:sp>
      <p:sp>
        <p:nvSpPr>
          <p:cNvPr id="2" name="number-18">
            <a:extLst xmlns:a="http://schemas.openxmlformats.org/drawingml/2006/main">
              <a:ext uri="{FF2B5EF4-FFF2-40B4-BE49-F238E27FC236}">
                <a16:creationId xmlns:a16="http://schemas.microsoft.com/office/drawing/2014/main" id="{19095F51-67A7-4313-B511-1C381F86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  <p:sp>
        <p:nvSpPr>
          <p:cNvPr id="3" name="compose-commands">
            <a:extLst xmlns:a="http://schemas.openxmlformats.org/drawingml/2006/main">
              <a:ext uri="{FF2B5EF4-FFF2-40B4-BE49-F238E27FC236}">
                <a16:creationId xmlns:a16="http://schemas.microsoft.com/office/drawing/2014/main" id="{095BEC98-31AA-4C77-8703-104E30E8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1906250" cy="619125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2424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config</a:t>
            </a:r>
          </a:p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up -d --build</a:t>
            </a:r>
          </a:p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ps</a:t>
            </a:r>
          </a:p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logs -f</a:t>
            </a:r>
          </a:p>
          <a:p xmlns:a="http://schemas.openxmlformats.org/drawingml/2006/main">
            <a:pPr algn="l">
              <a:def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defRPr>
            </a:pPr>
            <a:r>
              <a:rPr sz="2250" b="0">
                <a:solidFill>
                  <a:srgbClr val="F2F2F4"/>
                </a:solidFill>
                <a:latin typeface="Space Mono"/>
                <a:ea typeface="Space Mono"/>
                <a:cs typeface="Space Mono"/>
              </a:rPr>
              <a:t>docker compose down</a:t>
            </a:r>
          </a:p>
        </p:txBody>
      </p:sp>
      <p:sp>
        <p:nvSpPr>
          <p:cNvPr id="4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552798BA-E15F-4051-ADDC-C0792D5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0003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2325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Leitura do fluxo</a:t>
            </a:r>
          </a:p>
        </p:txBody>
      </p:sp>
      <p:sp>
        <p:nvSpPr>
          <p:cNvPr id="5" name="workflow-list">
            <a:extLst xmlns:a="http://schemas.openxmlformats.org/drawingml/2006/main">
              <a:ext uri="{FF2B5EF4-FFF2-40B4-BE49-F238E27FC236}">
                <a16:creationId xmlns:a16="http://schemas.microsoft.com/office/drawing/2014/main" id="{7ED21BD6-E0A4-48D5-AAE8-6F3DCFF7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095750"/>
            <a:ext cx="7239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Validar o arquivo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Construir e iniciar os serviços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Conferir o estado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Acompanhar as mensagens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325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325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Encerrar a solução</a:t>
            </a:r>
          </a:p>
        </p:txBody>
      </p:sp>
      <p:sp>
        <p:nvSpPr>
          <p:cNvPr id="6" name="callout-sj135f">
            <a:extLst xmlns:a="http://schemas.openxmlformats.org/drawingml/2006/main">
              <a:ext uri="{FF2B5EF4-FFF2-40B4-BE49-F238E27FC236}">
                <a16:creationId xmlns:a16="http://schemas.microsoft.com/office/drawing/2014/main" id="{0229EEB3-2907-4F79-9E6F-A760F324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Use --build quando o Dockerfile ou os arquivos copiados para a imagem mudarem.</a:t>
            </a:r>
          </a:p>
        </p:txBody>
      </p:sp>
    </p:spTree>
    <p:extLst>
      <p:ext uri="{BB962C8B-B14F-4D97-AF65-F5344CB8AC3E}">
        <p14:creationId xmlns:p14="http://schemas.microsoft.com/office/powerpoint/2010/main" val="94695963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9">
            <a:extLst xmlns:a="http://schemas.openxmlformats.org/drawingml/2006/main">
              <a:ext uri="{FF2B5EF4-FFF2-40B4-BE49-F238E27FC236}">
                <a16:creationId xmlns:a16="http://schemas.microsoft.com/office/drawing/2014/main" id="{C2D151E1-33C6-47A1-B51E-48BBAC03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Diagnóstico da comunicação entre serviços</a:t>
            </a:r>
          </a:p>
        </p:txBody>
      </p:sp>
      <p:sp>
        <p:nvSpPr>
          <p:cNvPr id="2" name="number-19">
            <a:extLst xmlns:a="http://schemas.openxmlformats.org/drawingml/2006/main">
              <a:ext uri="{FF2B5EF4-FFF2-40B4-BE49-F238E27FC236}">
                <a16:creationId xmlns:a16="http://schemas.microsoft.com/office/drawing/2014/main" id="{9C1A5B45-4583-4D2E-8D10-728B61DC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3" name="diagnosis-question">
            <a:extLst xmlns:a="http://schemas.openxmlformats.org/drawingml/2006/main">
              <a:ext uri="{FF2B5EF4-FFF2-40B4-BE49-F238E27FC236}">
                <a16:creationId xmlns:a16="http://schemas.microsoft.com/office/drawing/2014/main" id="{BBEE9DA4-9EC8-489A-A68E-1AFB845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095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Quando o frontend abre e a API não responde</a:t>
            </a:r>
          </a:p>
        </p:txBody>
      </p:sp>
      <p:sp>
        <p:nvSpPr>
          <p:cNvPr id="4" name="diagnosis-list">
            <a:extLst xmlns:a="http://schemas.openxmlformats.org/drawingml/2006/main">
              <a:ext uri="{FF2B5EF4-FFF2-40B4-BE49-F238E27FC236}">
                <a16:creationId xmlns:a16="http://schemas.microsoft.com/office/drawing/2014/main" id="{6ECE6844-E57B-4037-900A-22B83DD1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200025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Confirme se todos os serviços aparecem em docker compose ps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Leia os logs do frontend e do backend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Compare a porta em que o processo escuta com a porta usada pelo proxy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Use o nome do serviço para a comunicação interna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Teste primeiro o backend e depois o caminho público do frontend</a:t>
            </a:r>
          </a:p>
        </p:txBody>
      </p:sp>
      <p:sp>
        <p:nvSpPr>
          <p:cNvPr id="5" name="callout-nnxivb">
            <a:extLst xmlns:a="http://schemas.openxmlformats.org/drawingml/2006/main">
              <a:ext uri="{FF2B5EF4-FFF2-40B4-BE49-F238E27FC236}">
                <a16:creationId xmlns:a16="http://schemas.microsoft.com/office/drawing/2014/main" id="{C19554DA-D77A-4F1C-B146-DD5F7C2D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HTTP 502 costuma indicar que o proxy recebeu a requisição, mas não conseguiu falar com o serviço de destino.</a:t>
            </a:r>
          </a:p>
        </p:txBody>
      </p:sp>
    </p:spTree>
    <p:extLst>
      <p:ext uri="{BB962C8B-B14F-4D97-AF65-F5344CB8AC3E}">
        <p14:creationId xmlns:p14="http://schemas.microsoft.com/office/powerpoint/2010/main" val="81765311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20">
            <a:extLst xmlns:a="http://schemas.openxmlformats.org/drawingml/2006/main">
              <a:ext uri="{FF2B5EF4-FFF2-40B4-BE49-F238E27FC236}">
                <a16:creationId xmlns:a16="http://schemas.microsoft.com/office/drawing/2014/main" id="{6A4BFCD8-056E-483A-9F63-ECE5112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"/>
            <a:ext cx="2194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defRPr>
            </a:pPr>
            <a:r>
              <a:rPr sz="3600" b="1">
                <a:solidFill>
                  <a:srgbClr val="4F3292"/>
                </a:solidFill>
                <a:latin typeface="Space Mono"/>
                <a:ea typeface="Space Mono"/>
                <a:cs typeface="Space Mono"/>
              </a:rPr>
              <a:t>Checklist de estudo</a:t>
            </a:r>
          </a:p>
        </p:txBody>
      </p:sp>
      <p:sp>
        <p:nvSpPr>
          <p:cNvPr id="2" name="number-20">
            <a:extLst xmlns:a="http://schemas.openxmlformats.org/drawingml/2006/main">
              <a:ext uri="{FF2B5EF4-FFF2-40B4-BE49-F238E27FC236}">
                <a16:creationId xmlns:a16="http://schemas.microsoft.com/office/drawing/2014/main" id="{3D7543D4-1DEE-4A6B-B5AE-900ECC97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29540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86F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sp>
        <p:nvSpPr>
          <p:cNvPr id="3" name="study-checklist">
            <a:extLst xmlns:a="http://schemas.openxmlformats.org/drawingml/2006/main">
              <a:ext uri="{FF2B5EF4-FFF2-40B4-BE49-F238E27FC236}">
                <a16:creationId xmlns:a16="http://schemas.microsoft.com/office/drawing/2014/main" id="{A26C262D-FF73-4513-B08C-8642B43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20288250" cy="781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explicar a diferença entre imagem e container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localizar FROM, RUN e CMD em um Dockerfile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construir uma imagem com nome e tag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publicar uma porta e interpretar host:container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descrever dois serviços em um arquivo Compose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explicar como um serviço encontra outro pela rede interna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400">
                <a:solidFill>
                  <a:srgbClr val="2D2D32"/>
                </a:solidFill>
                <a:latin typeface="Montserrat"/>
                <a:ea typeface="Montserrat"/>
                <a:cs typeface="Montserrat"/>
              </a:defRPr>
            </a:pPr>
            <a:r>
              <a:rPr sz="2400">
                <a:solidFill>
                  <a:srgbClr val="2D2D32"/>
                </a:solidFill>
                <a:latin typeface="Montserrat"/>
                <a:ea typeface="Montserrat"/>
                <a:cs typeface="Montserrat"/>
              </a:rPr>
              <a:t>Consigo usar ps e logs para investigar uma falha</a:t>
            </a:r>
          </a:p>
        </p:txBody>
      </p:sp>
      <p:sp>
        <p:nvSpPr>
          <p:cNvPr id="4" name="callout-m2pmir">
            <a:extLst xmlns:a="http://schemas.openxmlformats.org/drawingml/2006/main">
              <a:ext uri="{FF2B5EF4-FFF2-40B4-BE49-F238E27FC236}">
                <a16:creationId xmlns:a16="http://schemas.microsoft.com/office/drawing/2014/main" id="{3B0A18AA-6E70-4C94-B8CB-A2669B98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334750"/>
            <a:ext cx="219456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4F3292"/>
                </a:solidFill>
                <a:latin typeface="Montserrat"/>
                <a:ea typeface="Montserrat"/>
                <a:cs typeface="Montserrat"/>
              </a:rPr>
              <a:t>Próximo passo: resolver os desafios sem copiar os arquivos dos casos.</a:t>
            </a:r>
          </a:p>
        </p:txBody>
      </p:sp>
    </p:spTree>
    <p:extLst>
      <p:ext uri="{BB962C8B-B14F-4D97-AF65-F5344CB8AC3E}">
        <p14:creationId xmlns:p14="http://schemas.microsoft.com/office/powerpoint/2010/main" val="1818506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2026-09-08T20:15:49.3680000Z</dcterms:created>
  <dcterms:modified xsi:type="dcterms:W3CDTF">2026-09-08T20:15:49.3680000Z</dcterms:modified>
</coreProperties>
</file>