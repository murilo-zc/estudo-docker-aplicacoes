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c3ded95bb44c91" /><Relationship Type="http://schemas.openxmlformats.org/officeDocument/2006/relationships/extended-properties" Target="/docProps/app.xml" Id="R48af65ac2eaf4b80" /><Relationship Type="http://schemas.openxmlformats.org/officeDocument/2006/relationships/officeDocument" Target="/ppt/presentation.xml" Id="R50f0eb1dc36f44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b1d1bbd9c4019"/>
  </p:sldMasterIdLst>
  <p:notesMasterIdLst>
    <p:notesMasterId xmlns:r="http://schemas.openxmlformats.org/officeDocument/2006/relationships" r:id="R70ebd41915d54c09"/>
  </p:notesMasterIdLst>
  <p:sldIdLst>
    <p:sldId xmlns:r="http://schemas.openxmlformats.org/officeDocument/2006/relationships" id="256" r:id="Rf0ce698f7d97405f"/>
    <p:sldId xmlns:r="http://schemas.openxmlformats.org/officeDocument/2006/relationships" id="257" r:id="Raf8000f707fc482b"/>
    <p:sldId xmlns:r="http://schemas.openxmlformats.org/officeDocument/2006/relationships" id="258" r:id="R721595c4126f4b2c"/>
    <p:sldId xmlns:r="http://schemas.openxmlformats.org/officeDocument/2006/relationships" id="259" r:id="R5e916b5585074040"/>
    <p:sldId xmlns:r="http://schemas.openxmlformats.org/officeDocument/2006/relationships" id="260" r:id="R6d806a7731ed4bc7"/>
    <p:sldId xmlns:r="http://schemas.openxmlformats.org/officeDocument/2006/relationships" id="261" r:id="R6117eda8309745b0"/>
    <p:sldId xmlns:r="http://schemas.openxmlformats.org/officeDocument/2006/relationships" id="262" r:id="R449e058e4983431f"/>
    <p:sldId xmlns:r="http://schemas.openxmlformats.org/officeDocument/2006/relationships" id="263" r:id="R72af9117e8134fa2"/>
    <p:sldId xmlns:r="http://schemas.openxmlformats.org/officeDocument/2006/relationships" id="264" r:id="R3f8a4850e2154e3f"/>
    <p:sldId xmlns:r="http://schemas.openxmlformats.org/officeDocument/2006/relationships" id="265" r:id="R8fd731fac64f4a4a"/>
    <p:sldId xmlns:r="http://schemas.openxmlformats.org/officeDocument/2006/relationships" id="266" r:id="R6003e82573134f3b"/>
    <p:sldId xmlns:r="http://schemas.openxmlformats.org/officeDocument/2006/relationships" id="267" r:id="R74241ac2490541ce"/>
    <p:sldId xmlns:r="http://schemas.openxmlformats.org/officeDocument/2006/relationships" id="268" r:id="Red929d348bab4244"/>
    <p:sldId xmlns:r="http://schemas.openxmlformats.org/officeDocument/2006/relationships" id="269" r:id="Raeeb976a4c5b430c"/>
    <p:sldId xmlns:r="http://schemas.openxmlformats.org/officeDocument/2006/relationships" id="270" r:id="R4851a4459c5b434a"/>
    <p:sldId xmlns:r="http://schemas.openxmlformats.org/officeDocument/2006/relationships" id="271" r:id="R7d3b738442584a43"/>
    <p:sldId xmlns:r="http://schemas.openxmlformats.org/officeDocument/2006/relationships" id="272" r:id="R7001d12b718f422c"/>
    <p:sldId xmlns:r="http://schemas.openxmlformats.org/officeDocument/2006/relationships" id="273" r:id="R1c0689cf65d1480f"/>
    <p:sldId xmlns:r="http://schemas.openxmlformats.org/officeDocument/2006/relationships" id="274" r:id="Rfaf8cd3af5ad4f68"/>
    <p:sldId xmlns:r="http://schemas.openxmlformats.org/officeDocument/2006/relationships" id="275" r:id="R4c28f1fea7b747a1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a6cf2fe55b4261" /><Relationship Type="http://schemas.openxmlformats.org/officeDocument/2006/relationships/slideMaster" Target="/ppt/slideMasters/slideMaster1.xml" Id="R95eb1d1bbd9c4019" /><Relationship Type="http://schemas.openxmlformats.org/officeDocument/2006/relationships/notesMaster" Target="/ppt/notesMasters/notesMaster1.xml" Id="R70ebd41915d54c09" /><Relationship Type="http://schemas.openxmlformats.org/officeDocument/2006/relationships/presProps" Target="/ppt/presProps.xml" Id="Ra620800f273a41ff" /><Relationship Type="http://schemas.openxmlformats.org/officeDocument/2006/relationships/tableStyles" Target="/ppt/tableStyles.xml" Id="Rde25bcf983724910" /><Relationship Type="http://schemas.openxmlformats.org/officeDocument/2006/relationships/slide" Target="/ppt/slides/slide1.xml" Id="Rf0ce698f7d97405f" /><Relationship Type="http://schemas.openxmlformats.org/officeDocument/2006/relationships/slide" Target="/ppt/slides/slide2.xml" Id="Raf8000f707fc482b" /><Relationship Type="http://schemas.openxmlformats.org/officeDocument/2006/relationships/slide" Target="/ppt/slides/slide3.xml" Id="R721595c4126f4b2c" /><Relationship Type="http://schemas.openxmlformats.org/officeDocument/2006/relationships/slide" Target="/ppt/slides/slide4.xml" Id="R5e916b5585074040" /><Relationship Type="http://schemas.openxmlformats.org/officeDocument/2006/relationships/slide" Target="/ppt/slides/slide5.xml" Id="R6d806a7731ed4bc7" /><Relationship Type="http://schemas.openxmlformats.org/officeDocument/2006/relationships/slide" Target="/ppt/slides/slide6.xml" Id="R6117eda8309745b0" /><Relationship Type="http://schemas.openxmlformats.org/officeDocument/2006/relationships/slide" Target="/ppt/slides/slide7.xml" Id="R449e058e4983431f" /><Relationship Type="http://schemas.openxmlformats.org/officeDocument/2006/relationships/slide" Target="/ppt/slides/slide8.xml" Id="R72af9117e8134fa2" /><Relationship Type="http://schemas.openxmlformats.org/officeDocument/2006/relationships/slide" Target="/ppt/slides/slide9.xml" Id="R3f8a4850e2154e3f" /><Relationship Type="http://schemas.openxmlformats.org/officeDocument/2006/relationships/slide" Target="/ppt/slides/slide10.xml" Id="R8fd731fac64f4a4a" /><Relationship Type="http://schemas.openxmlformats.org/officeDocument/2006/relationships/slide" Target="/ppt/slides/slide11.xml" Id="R6003e82573134f3b" /><Relationship Type="http://schemas.openxmlformats.org/officeDocument/2006/relationships/slide" Target="/ppt/slides/slide12.xml" Id="R74241ac2490541ce" /><Relationship Type="http://schemas.openxmlformats.org/officeDocument/2006/relationships/slide" Target="/ppt/slides/slide13.xml" Id="Red929d348bab4244" /><Relationship Type="http://schemas.openxmlformats.org/officeDocument/2006/relationships/slide" Target="/ppt/slides/slide14.xml" Id="Raeeb976a4c5b430c" /><Relationship Type="http://schemas.openxmlformats.org/officeDocument/2006/relationships/slide" Target="/ppt/slides/slide15.xml" Id="R4851a4459c5b434a" /><Relationship Type="http://schemas.openxmlformats.org/officeDocument/2006/relationships/slide" Target="/ppt/slides/slide16.xml" Id="R7d3b738442584a43" /><Relationship Type="http://schemas.openxmlformats.org/officeDocument/2006/relationships/slide" Target="/ppt/slides/slide17.xml" Id="R7001d12b718f422c" /><Relationship Type="http://schemas.openxmlformats.org/officeDocument/2006/relationships/slide" Target="/ppt/slides/slide18.xml" Id="R1c0689cf65d1480f" /><Relationship Type="http://schemas.openxmlformats.org/officeDocument/2006/relationships/slide" Target="/ppt/slides/slide19.xml" Id="Rfaf8cd3af5ad4f68" /><Relationship Type="http://schemas.openxmlformats.org/officeDocument/2006/relationships/slide" Target="/ppt/slides/slide20.xml" Id="R4c28f1fea7b747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7a0fcf51b4c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f76fcf26da46b7" /><Relationship Type="http://schemas.openxmlformats.org/officeDocument/2006/relationships/notesMaster" Target="/ppt/notesMasters/notesMaster1.xml" Id="Rce086eda91de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9ef97b989d4f40" /><Relationship Type="http://schemas.openxmlformats.org/officeDocument/2006/relationships/notesMaster" Target="/ppt/notesMasters/notesMaster1.xml" Id="Rfe5895c9228a47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edf8c82494fee" /><Relationship Type="http://schemas.openxmlformats.org/officeDocument/2006/relationships/notesMaster" Target="/ppt/notesMasters/notesMaster1.xml" Id="R9b21f370e12e49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62ea64a92941f3" /><Relationship Type="http://schemas.openxmlformats.org/officeDocument/2006/relationships/notesMaster" Target="/ppt/notesMasters/notesMaster1.xml" Id="R0f8f32abd8d2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9934762fa544e9" /><Relationship Type="http://schemas.openxmlformats.org/officeDocument/2006/relationships/notesMaster" Target="/ppt/notesMasters/notesMaster1.xml" Id="R7791fb49b2e6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61365ea6484b03" /><Relationship Type="http://schemas.openxmlformats.org/officeDocument/2006/relationships/notesMaster" Target="/ppt/notesMasters/notesMaster1.xml" Id="R607177bebea643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e8fd90374c46d5" /><Relationship Type="http://schemas.openxmlformats.org/officeDocument/2006/relationships/notesMaster" Target="/ppt/notesMasters/notesMaster1.xml" Id="R0869cd4d083941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afbcd8d75542b6" /><Relationship Type="http://schemas.openxmlformats.org/officeDocument/2006/relationships/notesMaster" Target="/ppt/notesMasters/notesMaster1.xml" Id="R55ab64522e934d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d827ed4abd4524" /><Relationship Type="http://schemas.openxmlformats.org/officeDocument/2006/relationships/notesMaster" Target="/ppt/notesMasters/notesMaster1.xml" Id="R1578cc6b8e164d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548bea20e24574" /><Relationship Type="http://schemas.openxmlformats.org/officeDocument/2006/relationships/notesMaster" Target="/ppt/notesMasters/notesMaster1.xml" Id="R46f23d927fbc43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ed63d1e01545e6" /><Relationship Type="http://schemas.openxmlformats.org/officeDocument/2006/relationships/notesMaster" Target="/ppt/notesMasters/notesMaster1.xml" Id="R9991912ad09740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5438f7d5a9465f" /><Relationship Type="http://schemas.openxmlformats.org/officeDocument/2006/relationships/notesMaster" Target="/ppt/notesMasters/notesMaster1.xml" Id="Ra0d9a7c4b0384d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54b482cacb4543" /><Relationship Type="http://schemas.openxmlformats.org/officeDocument/2006/relationships/notesMaster" Target="/ppt/notesMasters/notesMaster1.xml" Id="Reab5c5fefe9749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62584d7b434688" /><Relationship Type="http://schemas.openxmlformats.org/officeDocument/2006/relationships/notesMaster" Target="/ppt/notesMasters/notesMaster1.xml" Id="Rb35651876a384a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2930e076004ce7" /><Relationship Type="http://schemas.openxmlformats.org/officeDocument/2006/relationships/notesMaster" Target="/ppt/notesMasters/notesMaster1.xml" Id="R9316c72601fd4b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6c9af8a7f44fdd" /><Relationship Type="http://schemas.openxmlformats.org/officeDocument/2006/relationships/notesMaster" Target="/ppt/notesMasters/notesMaster1.xml" Id="Rca534498970647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4fae7b5c694c46" /><Relationship Type="http://schemas.openxmlformats.org/officeDocument/2006/relationships/notesMaster" Target="/ppt/notesMasters/notesMaster1.xml" Id="Rf9352c8f0cc24c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805cf453eb4dd2" /><Relationship Type="http://schemas.openxmlformats.org/officeDocument/2006/relationships/notesMaster" Target="/ppt/notesMasters/notesMaster1.xml" Id="Rc29b4ea30bbc49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9fdbf4bebb49b8" /><Relationship Type="http://schemas.openxmlformats.org/officeDocument/2006/relationships/notesMaster" Target="/ppt/notesMasters/notesMaster1.xml" Id="Rbf8c0516c98e49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f140f53e4545a8" /><Relationship Type="http://schemas.openxmlformats.org/officeDocument/2006/relationships/notesMaster" Target="/ppt/notesMasters/notesMaster1.xml" Id="R8ac2e56b14084a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curto para revisão. Os casos do repositório oferecem material de prática após 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alinhado aos Dockerfiles presentes nos casos do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Estrutura equivalente ao caso03, com foco no papel de cada campo e sem entregar os desafios propostos.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caso03 do repositório permite praticar este roteiro com uma incompatibilidade de porta no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9281c1ddc4d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38d8f9af6a4cf4" /><Relationship Type="http://schemas.openxmlformats.org/officeDocument/2006/relationships/slideLayout" Target="/ppt/slideLayouts/slideLayout1.xml" Id="R325401ccf62044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401ccf62044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44f3e5639409f" /><Relationship Type="http://schemas.openxmlformats.org/officeDocument/2006/relationships/notesSlide" Target="/ppt/notesSlides/notesSlide1.xml" Id="R033fdc02806c49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b5b96944e45c6" /><Relationship Type="http://schemas.openxmlformats.org/officeDocument/2006/relationships/notesSlide" Target="/ppt/notesSlides/notesSlide2.xml" Id="R4618baf6d244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fb4dffc21406a" /><Relationship Type="http://schemas.openxmlformats.org/officeDocument/2006/relationships/notesSlide" Target="/ppt/notesSlides/notesSlide3.xml" Id="R737c9883dd8a4e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6da88f1b94138" /><Relationship Type="http://schemas.openxmlformats.org/officeDocument/2006/relationships/notesSlide" Target="/ppt/notesSlides/notesSlide4.xml" Id="Rdc8a2a30069345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89f3030fa42cf" /><Relationship Type="http://schemas.openxmlformats.org/officeDocument/2006/relationships/notesSlide" Target="/ppt/notesSlides/notesSlide5.xml" Id="Rf66b0f07d50f4f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033205db149ee" /><Relationship Type="http://schemas.openxmlformats.org/officeDocument/2006/relationships/notesSlide" Target="/ppt/notesSlides/notesSlide6.xml" Id="R9275afb878974b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3c4dd8dda4940" /><Relationship Type="http://schemas.openxmlformats.org/officeDocument/2006/relationships/notesSlide" Target="/ppt/notesSlides/notesSlide7.xml" Id="Raeb9558bc42a4f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8c88102f34787" /><Relationship Type="http://schemas.openxmlformats.org/officeDocument/2006/relationships/notesSlide" Target="/ppt/notesSlides/notesSlide8.xml" Id="R87ad0adf05ab4f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bf1df843f457f" /><Relationship Type="http://schemas.openxmlformats.org/officeDocument/2006/relationships/notesSlide" Target="/ppt/notesSlides/notesSlide9.xml" Id="R12b55ac57cbb41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0b6c2bce94707" /><Relationship Type="http://schemas.openxmlformats.org/officeDocument/2006/relationships/notesSlide" Target="/ppt/notesSlides/notesSlide10.xml" Id="R6510bf52a7df41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01f1c2d2148a8" /><Relationship Type="http://schemas.openxmlformats.org/officeDocument/2006/relationships/notesSlide" Target="/ppt/notesSlides/notesSlide11.xml" Id="R4a5550de736b49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34e4e0f294ac8" /><Relationship Type="http://schemas.openxmlformats.org/officeDocument/2006/relationships/notesSlide" Target="/ppt/notesSlides/notesSlide12.xml" Id="R0d05e52977a747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1676a734f4f65" /><Relationship Type="http://schemas.openxmlformats.org/officeDocument/2006/relationships/notesSlide" Target="/ppt/notesSlides/notesSlide13.xml" Id="R4155d71d659e4e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bfc10bae44d63" /><Relationship Type="http://schemas.openxmlformats.org/officeDocument/2006/relationships/notesSlide" Target="/ppt/notesSlides/notesSlide14.xml" Id="Rd2d433937eea44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36f8e049f46e2" /><Relationship Type="http://schemas.openxmlformats.org/officeDocument/2006/relationships/notesSlide" Target="/ppt/notesSlides/notesSlide15.xml" Id="R36e70bf350854f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7bcdbad8c4113" /><Relationship Type="http://schemas.openxmlformats.org/officeDocument/2006/relationships/notesSlide" Target="/ppt/notesSlides/notesSlide16.xml" Id="R04092763366e42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4645cac1448a3" /><Relationship Type="http://schemas.openxmlformats.org/officeDocument/2006/relationships/notesSlide" Target="/ppt/notesSlides/notesSlide17.xml" Id="R0777f404840645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a0468a56240b7" /><Relationship Type="http://schemas.openxmlformats.org/officeDocument/2006/relationships/notesSlide" Target="/ppt/notesSlides/notesSlide18.xml" Id="R6074ee7e9a5242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c960b73e444d4" /><Relationship Type="http://schemas.openxmlformats.org/officeDocument/2006/relationships/notesSlide" Target="/ppt/notesSlides/notesSlide19.xml" Id="R4327dd06e37a44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cef51f6af4cd9" /><Relationship Type="http://schemas.openxmlformats.org/officeDocument/2006/relationships/notesSlide" Target="/ppt/notesSlides/notesSlide20.xml" Id="Rd20b6dd7587347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868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D282F2A-6238-4FFC-B531-A22B9287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1524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Guia de estudos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Imagens e Docker Compose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B82A0E7-31E7-4673-AE76-D26ACA33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381875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Conceitos essenciais e comandos de uso</a:t>
            </a:r>
          </a:p>
        </p:txBody>
      </p:sp>
      <p:sp>
        <p:nvSpPr>
          <p:cNvPr id="3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8ACBEC39-7FE4-45A9-8CED-877F4085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191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Containers e Docker</a:t>
            </a:r>
          </a:p>
        </p:txBody>
      </p:sp>
      <p:sp>
        <p:nvSpPr>
          <p:cNvPr id="4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F2561EB0-2125-473B-A6A3-EB47E6C5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32359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802AB00F-5676-4FEB-91E5-D9D58421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Objetivos deste guia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32601CCB-2BC6-4C84-8CE0-E4541A54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3" name="objectives">
            <a:extLst xmlns:a="http://schemas.openxmlformats.org/drawingml/2006/main">
              <a:ext uri="{FF2B5EF4-FFF2-40B4-BE49-F238E27FC236}">
                <a16:creationId xmlns:a16="http://schemas.microsoft.com/office/drawing/2014/main" id="{282C1D18-8095-41B0-A495-F4DA93D6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1952625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Distinguir imagem de container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Ler e escrever um Dockerfile pequeno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Construir uma imagem e iniciar containers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Descrever dois serviços com Docker Compose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Usar portas, nomes de serviço e logs para testar a solução</a:t>
            </a:r>
          </a:p>
        </p:txBody>
      </p:sp>
      <p:sp>
        <p:nvSpPr>
          <p:cNvPr id="4" name="callout-l8t1y6">
            <a:extLst xmlns:a="http://schemas.openxmlformats.org/drawingml/2006/main">
              <a:ext uri="{FF2B5EF4-FFF2-40B4-BE49-F238E27FC236}">
                <a16:creationId xmlns:a16="http://schemas.microsoft.com/office/drawing/2014/main" id="{3ECABE7D-9A40-43D0-BB97-966D6279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O objetivo é entender as decisões. Os comandos vêm depois do modelo mental.</a:t>
            </a:r>
          </a:p>
        </p:txBody>
      </p:sp>
    </p:spTree>
    <p:extLst>
      <p:ext uri="{BB962C8B-B14F-4D97-AF65-F5344CB8AC3E}">
        <p14:creationId xmlns:p14="http://schemas.microsoft.com/office/powerpoint/2010/main" val="2316877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9DA9182D-CA43-440D-A71C-CB46FF6F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Imagem container e registry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1EE26AFD-BCE6-48CD-8584-8CB710EC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" name="registry">
            <a:extLst xmlns:a="http://schemas.openxmlformats.org/drawingml/2006/main">
              <a:ext uri="{FF2B5EF4-FFF2-40B4-BE49-F238E27FC236}">
                <a16:creationId xmlns:a16="http://schemas.microsoft.com/office/drawing/2014/main" id="{6869EDF4-F232-412D-9B90-D67FD609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5334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REGISTRY</a:t>
            </a:r>
          </a:p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repositório de imagens</a:t>
            </a:r>
          </a:p>
        </p:txBody>
      </p:sp>
      <p:sp>
        <p:nvSpPr>
          <p:cNvPr id="4" name="image">
            <a:extLst xmlns:a="http://schemas.openxmlformats.org/drawingml/2006/main">
              <a:ext uri="{FF2B5EF4-FFF2-40B4-BE49-F238E27FC236}">
                <a16:creationId xmlns:a16="http://schemas.microsoft.com/office/drawing/2014/main" id="{57274FB6-390A-4B41-B935-7DF5B677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5334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IMAGEM</a:t>
            </a:r>
          </a:p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modelo somente leitura</a:t>
            </a:r>
          </a:p>
        </p:txBody>
      </p:sp>
      <p:sp>
        <p:nvSpPr>
          <p:cNvPr id="5" name="container">
            <a:extLst xmlns:a="http://schemas.openxmlformats.org/drawingml/2006/main">
              <a:ext uri="{FF2B5EF4-FFF2-40B4-BE49-F238E27FC236}">
                <a16:creationId xmlns:a16="http://schemas.microsoft.com/office/drawing/2014/main" id="{139D9C56-985D-4C18-B9EE-738447BA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4286250"/>
            <a:ext cx="5334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CONTAINER</a:t>
            </a:r>
          </a:p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instância em execução</a:t>
            </a:r>
          </a:p>
        </p:txBody>
      </p:sp>
      <p:cxnSp>
        <p:nvCxnSpPr>
          <p:cNvPr id="1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334250" y="53816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F3292"/>
            </a:solidFill>
            <a:prstDash val="solid"/>
            <a:headEnd type="arrow" w="med" len="med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4859000" y="53816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F3292"/>
            </a:solidFill>
            <a:prstDash val="solid"/>
            <a:headEnd type="arrow" w="med" len="med"/>
          </a:ln>
        </p:spPr>
      </p:cxnSp>
      <p:sp>
        <p:nvSpPr>
          <p:cNvPr id="8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2B67BC5B-EEBD-4C65-A3EE-3E9033C8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620000"/>
            <a:ext cx="1790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docker pull baixa uma imagem. docker run cria um container novo a partir dela.</a:t>
            </a:r>
          </a:p>
        </p:txBody>
      </p:sp>
      <p:sp>
        <p:nvSpPr>
          <p:cNvPr id="9" name="callout-eivdb2">
            <a:extLst xmlns:a="http://schemas.openxmlformats.org/drawingml/2006/main">
              <a:ext uri="{FF2B5EF4-FFF2-40B4-BE49-F238E27FC236}">
                <a16:creationId xmlns:a16="http://schemas.microsoft.com/office/drawing/2014/main" id="{33530F46-52B7-4CAE-BA99-F9F3B244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Uma imagem pode gerar vários containers com nomes, portas e configurações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5192386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4">
            <a:extLst xmlns:a="http://schemas.openxmlformats.org/drawingml/2006/main">
              <a:ext uri="{FF2B5EF4-FFF2-40B4-BE49-F238E27FC236}">
                <a16:creationId xmlns:a16="http://schemas.microsoft.com/office/drawing/2014/main" id="{BEED6090-81C4-4E9B-A2DE-9AC85207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A imagem é formada por camadas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9CC58A10-C13C-406D-9444-7B5C9C14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3" name="layer-Imagem base">
            <a:extLst xmlns:a="http://schemas.openxmlformats.org/drawingml/2006/main">
              <a:ext uri="{FF2B5EF4-FFF2-40B4-BE49-F238E27FC236}">
                <a16:creationId xmlns:a16="http://schemas.microsoft.com/office/drawing/2014/main" id="{6AFF155E-2855-457E-8E04-50BB731A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3716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Imagem base</a:t>
            </a:r>
          </a:p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python:3.12-slim</a:t>
            </a:r>
          </a:p>
        </p:txBody>
      </p:sp>
      <p:sp>
        <p:nvSpPr>
          <p:cNvPr id="4" name="layer-Dependências">
            <a:extLst xmlns:a="http://schemas.openxmlformats.org/drawingml/2006/main">
              <a:ext uri="{FF2B5EF4-FFF2-40B4-BE49-F238E27FC236}">
                <a16:creationId xmlns:a16="http://schemas.microsoft.com/office/drawing/2014/main" id="{5279C435-6C3D-4C53-ACC2-68E9C141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4810125"/>
            <a:ext cx="14144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Dependências</a:t>
            </a:r>
          </a:p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pip install -r requirements.txt</a:t>
            </a:r>
          </a:p>
        </p:txBody>
      </p:sp>
      <p:sp>
        <p:nvSpPr>
          <p:cNvPr id="5" name="layer-Código da aplicação">
            <a:extLst xmlns:a="http://schemas.openxmlformats.org/drawingml/2006/main">
              <a:ext uri="{FF2B5EF4-FFF2-40B4-BE49-F238E27FC236}">
                <a16:creationId xmlns:a16="http://schemas.microsoft.com/office/drawing/2014/main" id="{80A92B08-BC74-47A8-9F79-A398D0A6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77000"/>
            <a:ext cx="1457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Código da aplicação</a:t>
            </a:r>
          </a:p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COPY . .</a:t>
            </a:r>
          </a:p>
        </p:txBody>
      </p:sp>
      <p:sp>
        <p:nvSpPr>
          <p:cNvPr id="6" name="layer-Metadados de execução">
            <a:extLst xmlns:a="http://schemas.openxmlformats.org/drawingml/2006/main">
              <a:ext uri="{FF2B5EF4-FFF2-40B4-BE49-F238E27FC236}">
                <a16:creationId xmlns:a16="http://schemas.microsoft.com/office/drawing/2014/main" id="{95A9FC41-1AC3-4604-A3FE-3451542C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8143875"/>
            <a:ext cx="150018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Metadados de execução</a:t>
            </a:r>
          </a:p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EXPOSE e CMD</a:t>
            </a:r>
          </a:p>
        </p:txBody>
      </p:sp>
      <p:sp>
        <p:nvSpPr>
          <p:cNvPr id="7" name="callout-dxhj0q">
            <a:extLst xmlns:a="http://schemas.openxmlformats.org/drawingml/2006/main">
              <a:ext uri="{FF2B5EF4-FFF2-40B4-BE49-F238E27FC236}">
                <a16:creationId xmlns:a16="http://schemas.microsoft.com/office/drawing/2014/main" id="{7DE0C28A-6F8A-4A2E-9346-E1CF01D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Mudanças próximas ao fim do Dockerfile reaproveitam mais camadas do build anterior.</a:t>
            </a:r>
          </a:p>
        </p:txBody>
      </p:sp>
    </p:spTree>
    <p:extLst>
      <p:ext uri="{BB962C8B-B14F-4D97-AF65-F5344CB8AC3E}">
        <p14:creationId xmlns:p14="http://schemas.microsoft.com/office/powerpoint/2010/main" val="10041870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5">
            <a:extLst xmlns:a="http://schemas.openxmlformats.org/drawingml/2006/main">
              <a:ext uri="{FF2B5EF4-FFF2-40B4-BE49-F238E27FC236}">
                <a16:creationId xmlns:a16="http://schemas.microsoft.com/office/drawing/2014/main" id="{D845FEE6-5FF5-4A12-B50C-3C2B9A1C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O Dockerfile descreve a imagem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8210AF9A-CD8D-43E1-A214-BAEA85B7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3" name="key-FROM">
            <a:extLst xmlns:a="http://schemas.openxmlformats.org/drawingml/2006/main">
              <a:ext uri="{FF2B5EF4-FFF2-40B4-BE49-F238E27FC236}">
                <a16:creationId xmlns:a16="http://schemas.microsoft.com/office/drawing/2014/main" id="{E5D95722-6D0E-47FE-BBC6-AEA50204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FROM</a:t>
            </a:r>
          </a:p>
        </p:txBody>
      </p:sp>
      <p:sp>
        <p:nvSpPr>
          <p:cNvPr id="4" name="desc-FROM">
            <a:extLst xmlns:a="http://schemas.openxmlformats.org/drawingml/2006/main">
              <a:ext uri="{FF2B5EF4-FFF2-40B4-BE49-F238E27FC236}">
                <a16:creationId xmlns:a16="http://schemas.microsoft.com/office/drawing/2014/main" id="{1DFAC8E9-F0F2-4E72-A5E3-0F371162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define a imagem base</a:t>
            </a:r>
          </a:p>
        </p:txBody>
      </p:sp>
      <p:sp>
        <p:nvSpPr>
          <p:cNvPr id="5" name="key-WORKDIR">
            <a:extLst xmlns:a="http://schemas.openxmlformats.org/drawingml/2006/main">
              <a:ext uri="{FF2B5EF4-FFF2-40B4-BE49-F238E27FC236}">
                <a16:creationId xmlns:a16="http://schemas.microsoft.com/office/drawing/2014/main" id="{07D30A73-39BE-4DC4-9DA0-924A76BB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762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WORKDIR</a:t>
            </a:r>
          </a:p>
        </p:txBody>
      </p:sp>
      <p:sp>
        <p:nvSpPr>
          <p:cNvPr id="6" name="desc-WORKDIR">
            <a:extLst xmlns:a="http://schemas.openxmlformats.org/drawingml/2006/main">
              <a:ext uri="{FF2B5EF4-FFF2-40B4-BE49-F238E27FC236}">
                <a16:creationId xmlns:a16="http://schemas.microsoft.com/office/drawing/2014/main" id="{385F7766-7FA0-4F29-B086-3871B69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escolhe o diretório de trabalho</a:t>
            </a:r>
          </a:p>
        </p:txBody>
      </p:sp>
      <p:sp>
        <p:nvSpPr>
          <p:cNvPr id="7" name="key-COPY">
            <a:extLst xmlns:a="http://schemas.openxmlformats.org/drawingml/2006/main">
              <a:ext uri="{FF2B5EF4-FFF2-40B4-BE49-F238E27FC236}">
                <a16:creationId xmlns:a16="http://schemas.microsoft.com/office/drawing/2014/main" id="{F3D2AEA7-AB66-419F-9D57-5FE371B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COPY</a:t>
            </a:r>
          </a:p>
        </p:txBody>
      </p:sp>
      <p:sp>
        <p:nvSpPr>
          <p:cNvPr id="8" name="desc-COPY">
            <a:extLst xmlns:a="http://schemas.openxmlformats.org/drawingml/2006/main">
              <a:ext uri="{FF2B5EF4-FFF2-40B4-BE49-F238E27FC236}">
                <a16:creationId xmlns:a16="http://schemas.microsoft.com/office/drawing/2014/main" id="{8307A5F8-7457-403C-8F86-BD1EEA69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leva arquivos para a imagem</a:t>
            </a:r>
          </a:p>
        </p:txBody>
      </p:sp>
      <p:sp>
        <p:nvSpPr>
          <p:cNvPr id="9" name="key-RUN">
            <a:extLst xmlns:a="http://schemas.openxmlformats.org/drawingml/2006/main">
              <a:ext uri="{FF2B5EF4-FFF2-40B4-BE49-F238E27FC236}">
                <a16:creationId xmlns:a16="http://schemas.microsoft.com/office/drawing/2014/main" id="{B2A6674A-AAD8-4199-87B4-91D4AE15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RUN</a:t>
            </a:r>
          </a:p>
        </p:txBody>
      </p:sp>
      <p:sp>
        <p:nvSpPr>
          <p:cNvPr id="10" name="desc-RUN">
            <a:extLst xmlns:a="http://schemas.openxmlformats.org/drawingml/2006/main">
              <a:ext uri="{FF2B5EF4-FFF2-40B4-BE49-F238E27FC236}">
                <a16:creationId xmlns:a16="http://schemas.microsoft.com/office/drawing/2014/main" id="{62B61F3B-EC4A-46E1-A4F5-084AA768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29375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executa uma etapa durante o build</a:t>
            </a:r>
          </a:p>
        </p:txBody>
      </p:sp>
      <p:sp>
        <p:nvSpPr>
          <p:cNvPr id="11" name="key-EXPOSE">
            <a:extLst xmlns:a="http://schemas.openxmlformats.org/drawingml/2006/main">
              <a:ext uri="{FF2B5EF4-FFF2-40B4-BE49-F238E27FC236}">
                <a16:creationId xmlns:a16="http://schemas.microsoft.com/office/drawing/2014/main" id="{DBA25068-8014-4909-A711-BBA8370A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71525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EXPOSE</a:t>
            </a:r>
          </a:p>
        </p:txBody>
      </p:sp>
      <p:sp>
        <p:nvSpPr>
          <p:cNvPr id="12" name="desc-EXPOSE">
            <a:extLst xmlns:a="http://schemas.openxmlformats.org/drawingml/2006/main">
              <a:ext uri="{FF2B5EF4-FFF2-40B4-BE49-F238E27FC236}">
                <a16:creationId xmlns:a16="http://schemas.microsoft.com/office/drawing/2014/main" id="{E073E06E-E099-4C46-971E-2FF3A35D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715250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documenta a porta usada pelo processo</a:t>
            </a:r>
          </a:p>
        </p:txBody>
      </p:sp>
      <p:sp>
        <p:nvSpPr>
          <p:cNvPr id="13" name="key-CMD">
            <a:extLst xmlns:a="http://schemas.openxmlformats.org/drawingml/2006/main">
              <a:ext uri="{FF2B5EF4-FFF2-40B4-BE49-F238E27FC236}">
                <a16:creationId xmlns:a16="http://schemas.microsoft.com/office/drawing/2014/main" id="{976CAFE7-E1BA-4692-8F38-C2DD187C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00112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CMD</a:t>
            </a:r>
          </a:p>
        </p:txBody>
      </p:sp>
      <p:sp>
        <p:nvSpPr>
          <p:cNvPr id="14" name="desc-CMD">
            <a:extLst xmlns:a="http://schemas.openxmlformats.org/drawingml/2006/main">
              <a:ext uri="{FF2B5EF4-FFF2-40B4-BE49-F238E27FC236}">
                <a16:creationId xmlns:a16="http://schemas.microsoft.com/office/drawing/2014/main" id="{40726D76-E85E-4E07-B7DC-4EC2848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001125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define o processo principal do container</a:t>
            </a:r>
          </a:p>
        </p:txBody>
      </p:sp>
    </p:spTree>
    <p:extLst>
      <p:ext uri="{BB962C8B-B14F-4D97-AF65-F5344CB8AC3E}">
        <p14:creationId xmlns:p14="http://schemas.microsoft.com/office/powerpoint/2010/main" val="16005082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38CEBAF4-78F3-4943-809D-C7201AF4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Exemplo de Dockerfile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4D9489A7-DAED-4C68-BC0A-2F9D55ED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3" name="dockerfile-code">
            <a:extLst xmlns:a="http://schemas.openxmlformats.org/drawingml/2006/main">
              <a:ext uri="{FF2B5EF4-FFF2-40B4-BE49-F238E27FC236}">
                <a16:creationId xmlns:a16="http://schemas.microsoft.com/office/drawing/2014/main" id="{49EDD273-7BE0-4937-9899-FEBDC350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3716000" cy="8191500"/>
          </a:xfrm>
          <a:prstGeom xmlns:a="http://schemas.openxmlformats.org/drawingml/2006/main" prst="roundRect">
            <a:avLst>
              <a:gd name="adj" fmla="val 930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FROM python:3.12-slim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WORKDIR /app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COPY requirements.txt .</a:t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RUN pip install --no-cache-dir -r requirements.txt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COPY .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EXPOSE 5050</a:t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CMD ["gunicorn", "--bind", "0.0.0.0:5050", "main:app"]</a:t>
            </a:r>
          </a:p>
        </p:txBody>
      </p:sp>
      <p:sp>
        <p:nvSpPr>
          <p:cNvPr id="4" name="dockerfile-notes">
            <a:extLst xmlns:a="http://schemas.openxmlformats.org/drawingml/2006/main">
              <a:ext uri="{FF2B5EF4-FFF2-40B4-BE49-F238E27FC236}">
                <a16:creationId xmlns:a16="http://schemas.microsoft.com/office/drawing/2014/main" id="{64F7E9F6-0EBF-4866-90A2-3A8226C1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048000"/>
            <a:ext cx="6858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1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build cria a imagem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1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RUN acontece durante o build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1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CMD acontece quando o container inicia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1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EXPOSE não publica a porta no computador</a:t>
            </a:r>
          </a:p>
        </p:txBody>
      </p:sp>
      <p:sp>
        <p:nvSpPr>
          <p:cNvPr id="5" name="callout-3b0bxm">
            <a:extLst xmlns:a="http://schemas.openxmlformats.org/drawingml/2006/main">
              <a:ext uri="{FF2B5EF4-FFF2-40B4-BE49-F238E27FC236}">
                <a16:creationId xmlns:a16="http://schemas.microsoft.com/office/drawing/2014/main" id="{61887CC1-B24C-4910-BAC5-4E12C34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Copiar as dependências antes do código ajuda a aproveitar o cache quando só o código muda.</a:t>
            </a:r>
          </a:p>
        </p:txBody>
      </p:sp>
    </p:spTree>
    <p:extLst>
      <p:ext uri="{BB962C8B-B14F-4D97-AF65-F5344CB8AC3E}">
        <p14:creationId xmlns:p14="http://schemas.microsoft.com/office/powerpoint/2010/main" val="7902749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7575D7B7-988A-453D-9264-1FADC54D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Construção e identificação da imagem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A2E5F2AA-5BB0-4386-A811-A0FCA92C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3" name="build-code">
            <a:extLst xmlns:a="http://schemas.openxmlformats.org/drawingml/2006/main">
              <a:ext uri="{FF2B5EF4-FFF2-40B4-BE49-F238E27FC236}">
                <a16:creationId xmlns:a16="http://schemas.microsoft.com/office/drawing/2014/main" id="{B2844002-AD39-4A1E-BFEC-DC8EB549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14287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build -t api-recados:1.0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image 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image inspect api-recados:1.0</a:t>
            </a:r>
          </a:p>
        </p:txBody>
      </p:sp>
      <p:sp>
        <p:nvSpPr>
          <p:cNvPr id="4" name="tag-title">
            <a:extLst xmlns:a="http://schemas.openxmlformats.org/drawingml/2006/main">
              <a:ext uri="{FF2B5EF4-FFF2-40B4-BE49-F238E27FC236}">
                <a16:creationId xmlns:a16="http://schemas.microsoft.com/office/drawing/2014/main" id="{7495FC38-1DDF-4AA4-AA8F-96AA1170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31908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Nome e tag</a:t>
            </a:r>
          </a:p>
        </p:txBody>
      </p:sp>
      <p:sp>
        <p:nvSpPr>
          <p:cNvPr id="5" name="tag-copy">
            <a:extLst xmlns:a="http://schemas.openxmlformats.org/drawingml/2006/main">
              <a:ext uri="{FF2B5EF4-FFF2-40B4-BE49-F238E27FC236}">
                <a16:creationId xmlns:a16="http://schemas.microsoft.com/office/drawing/2014/main" id="{E7A61D89-47F7-4D63-BAFB-4C87F886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4095750"/>
            <a:ext cx="5905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api-recados identifica 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1.0 identifica uma versão.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Uma alteração no Dockerfile ou no código exige um novo build.</a:t>
            </a:r>
          </a:p>
        </p:txBody>
      </p:sp>
      <p:sp>
        <p:nvSpPr>
          <p:cNvPr id="6" name="callout-g154sr">
            <a:extLst xmlns:a="http://schemas.openxmlformats.org/drawingml/2006/main">
              <a:ext uri="{FF2B5EF4-FFF2-40B4-BE49-F238E27FC236}">
                <a16:creationId xmlns:a16="http://schemas.microsoft.com/office/drawing/2014/main" id="{D8CCAD9E-CF26-45F0-AD6E-AE7AEC28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A tag latest não explica qual versão está em uso. Tags explícitas facilitam testes e retorno.</a:t>
            </a:r>
          </a:p>
        </p:txBody>
      </p:sp>
    </p:spTree>
    <p:extLst>
      <p:ext uri="{BB962C8B-B14F-4D97-AF65-F5344CB8AC3E}">
        <p14:creationId xmlns:p14="http://schemas.microsoft.com/office/powerpoint/2010/main" val="4708407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8">
            <a:extLst xmlns:a="http://schemas.openxmlformats.org/drawingml/2006/main">
              <a:ext uri="{FF2B5EF4-FFF2-40B4-BE49-F238E27FC236}">
                <a16:creationId xmlns:a16="http://schemas.microsoft.com/office/drawing/2014/main" id="{F537A68D-4F70-441E-BE05-433BB8B3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Imagem e container têm papéis diferentes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3A9CB4AF-C84C-415F-9015-BB6048E9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3" name="image-side">
            <a:extLst xmlns:a="http://schemas.openxmlformats.org/drawingml/2006/main">
              <a:ext uri="{FF2B5EF4-FFF2-40B4-BE49-F238E27FC236}">
                <a16:creationId xmlns:a16="http://schemas.microsoft.com/office/drawing/2014/main" id="{20E47C42-5AF7-4498-9CDB-9FFA2B0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8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IMAGEM</a:t>
            </a:r>
          </a:p>
        </p:txBody>
      </p:sp>
      <p:sp>
        <p:nvSpPr>
          <p:cNvPr id="4" name="image-list">
            <a:extLst xmlns:a="http://schemas.openxmlformats.org/drawingml/2006/main">
              <a:ext uri="{FF2B5EF4-FFF2-40B4-BE49-F238E27FC236}">
                <a16:creationId xmlns:a16="http://schemas.microsoft.com/office/drawing/2014/main" id="{AC0AA2CE-B730-4856-8202-07814DF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0"/>
            <a:ext cx="8286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Resultado do build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Camadas somente leitura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Pode ser enviada a um registry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Não representa uma execução</a:t>
            </a:r>
          </a:p>
        </p:txBody>
      </p:sp>
      <p:sp>
        <p:nvSpPr>
          <p:cNvPr id="5" name="container-side">
            <a:extLst xmlns:a="http://schemas.openxmlformats.org/drawingml/2006/main">
              <a:ext uri="{FF2B5EF4-FFF2-40B4-BE49-F238E27FC236}">
                <a16:creationId xmlns:a16="http://schemas.microsoft.com/office/drawing/2014/main" id="{2E452C81-FFA5-45A5-BE39-07B88CD5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952750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8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CONTAINER</a:t>
            </a:r>
          </a:p>
        </p:txBody>
      </p:sp>
      <p:sp>
        <p:nvSpPr>
          <p:cNvPr id="6" name="container-list">
            <a:extLst xmlns:a="http://schemas.openxmlformats.org/drawingml/2006/main">
              <a:ext uri="{FF2B5EF4-FFF2-40B4-BE49-F238E27FC236}">
                <a16:creationId xmlns:a16="http://schemas.microsoft.com/office/drawing/2014/main" id="{AD337AF3-5443-4549-B1F1-8FC83E70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381500"/>
            <a:ext cx="8286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Criado a partir da imagem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Possui nome e estado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Executa um processo principal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Pode publicar portas e receber variáveis</a:t>
            </a:r>
          </a:p>
        </p:txBody>
      </p:sp>
      <p:sp>
        <p:nvSpPr>
          <p:cNvPr id="7" name="callout-akx79i">
            <a:extLst xmlns:a="http://schemas.openxmlformats.org/drawingml/2006/main">
              <a:ext uri="{FF2B5EF4-FFF2-40B4-BE49-F238E27FC236}">
                <a16:creationId xmlns:a16="http://schemas.microsoft.com/office/drawing/2014/main" id="{A42D277C-67CB-47E7-B481-C9D5F7C0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Alterar um arquivo dentro do container não atualiza a imagem que o criou.</a:t>
            </a:r>
          </a:p>
        </p:txBody>
      </p:sp>
    </p:spTree>
    <p:extLst>
      <p:ext uri="{BB962C8B-B14F-4D97-AF65-F5344CB8AC3E}">
        <p14:creationId xmlns:p14="http://schemas.microsoft.com/office/powerpoint/2010/main" val="1393460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E3C79355-EE26-4BA5-A18B-361D30C2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Criação do container e publicação de porta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0A1F787B-B144-45B7-B663-9274EE1E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3" name="run-code">
            <a:extLst xmlns:a="http://schemas.openxmlformats.org/drawingml/2006/main">
              <a:ext uri="{FF2B5EF4-FFF2-40B4-BE49-F238E27FC236}">
                <a16:creationId xmlns:a16="http://schemas.microsoft.com/office/drawing/2014/main" id="{DAFCCB03-C4E6-4E0F-8A29-ED2497A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2095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run -d --name recados -p 9100:5050 api-recados:1.0</a:t>
            </a:r>
          </a:p>
        </p:txBody>
      </p:sp>
      <p:sp>
        <p:nvSpPr>
          <p:cNvPr id="4" name="host-port">
            <a:extLst xmlns:a="http://schemas.openxmlformats.org/drawingml/2006/main">
              <a:ext uri="{FF2B5EF4-FFF2-40B4-BE49-F238E27FC236}">
                <a16:creationId xmlns:a16="http://schemas.microsoft.com/office/drawing/2014/main" id="{D65B7E8B-ACA9-4972-8217-95773E63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0250"/>
            <a:ext cx="666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COMPUTADOR</a:t>
            </a:r>
          </a:p>
          <a:p xmlns:a="http://schemas.openxmlformats.org/drawingml/2006/main">
            <a:pPr algn="ctr">
              <a:def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localhost:9100</a:t>
            </a:r>
          </a:p>
        </p:txBody>
      </p:sp>
      <p:sp>
        <p:nvSpPr>
          <p:cNvPr id="5" name="container-port">
            <a:extLst xmlns:a="http://schemas.openxmlformats.org/drawingml/2006/main">
              <a:ext uri="{FF2B5EF4-FFF2-40B4-BE49-F238E27FC236}">
                <a16:creationId xmlns:a16="http://schemas.microsoft.com/office/drawing/2014/main" id="{7275C38C-1B99-48DC-A79D-368560A5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810250"/>
            <a:ext cx="666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CONTAINER</a:t>
            </a:r>
          </a:p>
          <a:p xmlns:a="http://schemas.openxmlformats.org/drawingml/2006/main">
            <a:pPr algn="ctr">
              <a:def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processo em 5050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144000" y="6858000"/>
            <a:ext cx="6096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4F3292"/>
            </a:solidFill>
            <a:prstDash val="solid"/>
            <a:headEnd type="arrow" w="med" len="med"/>
          </a:ln>
        </p:spPr>
      </p:cxnSp>
      <p:sp>
        <p:nvSpPr>
          <p:cNvPr id="7" name="port-map">
            <a:extLst xmlns:a="http://schemas.openxmlformats.org/drawingml/2006/main">
              <a:ext uri="{FF2B5EF4-FFF2-40B4-BE49-F238E27FC236}">
                <a16:creationId xmlns:a16="http://schemas.microsoft.com/office/drawing/2014/main" id="{2B1B9E90-7695-432C-AFD3-25AC035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7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-p 9100:5050</a:t>
            </a:r>
          </a:p>
        </p:txBody>
      </p:sp>
      <p:sp>
        <p:nvSpPr>
          <p:cNvPr id="8" name="callout-7zbe0z">
            <a:extLst xmlns:a="http://schemas.openxmlformats.org/drawingml/2006/main">
              <a:ext uri="{FF2B5EF4-FFF2-40B4-BE49-F238E27FC236}">
                <a16:creationId xmlns:a16="http://schemas.microsoft.com/office/drawing/2014/main" id="{EB0FC198-1B6A-44AB-B233-458925EF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A porta à esquerda pertence ao computador. A porta à direita pertence ao container.</a:t>
            </a:r>
          </a:p>
        </p:txBody>
      </p:sp>
    </p:spTree>
    <p:extLst>
      <p:ext uri="{BB962C8B-B14F-4D97-AF65-F5344CB8AC3E}">
        <p14:creationId xmlns:p14="http://schemas.microsoft.com/office/powerpoint/2010/main" val="17371811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0">
            <a:extLst xmlns:a="http://schemas.openxmlformats.org/drawingml/2006/main">
              <a:ext uri="{FF2B5EF4-FFF2-40B4-BE49-F238E27FC236}">
                <a16:creationId xmlns:a16="http://schemas.microsoft.com/office/drawing/2014/main" id="{ABBF6D61-AF94-4A0A-A7AF-6587DFBD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Comandos para observar e controlar</a:t>
            </a:r>
          </a:p>
        </p:txBody>
      </p:sp>
      <p:sp>
        <p:nvSpPr>
          <p:cNvPr id="2" name="number-10">
            <a:extLst xmlns:a="http://schemas.openxmlformats.org/drawingml/2006/main">
              <a:ext uri="{FF2B5EF4-FFF2-40B4-BE49-F238E27FC236}">
                <a16:creationId xmlns:a16="http://schemas.microsoft.com/office/drawing/2014/main" id="{E4BCE730-AA8F-40C2-951E-EB60550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3" name="lifecycle-code">
            <a:extLst xmlns:a="http://schemas.openxmlformats.org/drawingml/2006/main">
              <a:ext uri="{FF2B5EF4-FFF2-40B4-BE49-F238E27FC236}">
                <a16:creationId xmlns:a16="http://schemas.microsoft.com/office/drawing/2014/main" id="{EC453090-3C5B-404C-AE27-78DC3FFA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11239500" cy="66675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ps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logs -f recados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exec -it recados sh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stop recados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start recados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rm -f recados</a:t>
            </a:r>
          </a:p>
        </p:txBody>
      </p:sp>
      <p:sp>
        <p:nvSpPr>
          <p:cNvPr id="4" name="lifecycle-title">
            <a:extLst xmlns:a="http://schemas.openxmlformats.org/drawingml/2006/main">
              <a:ext uri="{FF2B5EF4-FFF2-40B4-BE49-F238E27FC236}">
                <a16:creationId xmlns:a16="http://schemas.microsoft.com/office/drawing/2014/main" id="{67A95F21-0593-4822-B882-02CBC08F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8575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Perguntas para o diagnóstico</a:t>
            </a:r>
          </a:p>
        </p:txBody>
      </p:sp>
      <p:sp>
        <p:nvSpPr>
          <p:cNvPr id="5" name="lifecycle-questions">
            <a:extLst xmlns:a="http://schemas.openxmlformats.org/drawingml/2006/main">
              <a:ext uri="{FF2B5EF4-FFF2-40B4-BE49-F238E27FC236}">
                <a16:creationId xmlns:a16="http://schemas.microsoft.com/office/drawing/2014/main" id="{4B242BE7-ECA8-4754-A873-BBD3EEE3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000500"/>
            <a:ext cx="76200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container está em execução?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Qual porta foi publicada?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processo iniciou sem erro?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A requisição chegou ao serviço?</a:t>
            </a:r>
          </a:p>
        </p:txBody>
      </p:sp>
      <p:sp>
        <p:nvSpPr>
          <p:cNvPr id="6" name="callout-lw8q79">
            <a:extLst xmlns:a="http://schemas.openxmlformats.org/drawingml/2006/main">
              <a:ext uri="{FF2B5EF4-FFF2-40B4-BE49-F238E27FC236}">
                <a16:creationId xmlns:a16="http://schemas.microsoft.com/office/drawing/2014/main" id="{99BF081C-262E-415D-8CFD-CD804EF7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O log mostra o que o processo escreveu. Ele costuma ser a primeira evidência útil.</a:t>
            </a:r>
          </a:p>
        </p:txBody>
      </p:sp>
    </p:spTree>
    <p:extLst>
      <p:ext uri="{BB962C8B-B14F-4D97-AF65-F5344CB8AC3E}">
        <p14:creationId xmlns:p14="http://schemas.microsoft.com/office/powerpoint/2010/main" val="7681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6868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ection-title-11">
            <a:extLst xmlns:a="http://schemas.openxmlformats.org/drawingml/2006/main">
              <a:ext uri="{FF2B5EF4-FFF2-40B4-BE49-F238E27FC236}">
                <a16:creationId xmlns:a16="http://schemas.microsoft.com/office/drawing/2014/main" id="{9000549E-C096-44BB-83F4-B4CAD005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000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Docker Compose</a:t>
            </a:r>
          </a:p>
        </p:txBody>
      </p:sp>
      <p:sp>
        <p:nvSpPr>
          <p:cNvPr id="2" name="section-subtitle-11">
            <a:extLst xmlns:a="http://schemas.openxmlformats.org/drawingml/2006/main">
              <a:ext uri="{FF2B5EF4-FFF2-40B4-BE49-F238E27FC236}">
                <a16:creationId xmlns:a16="http://schemas.microsoft.com/office/drawing/2014/main" id="{51F89CC9-544F-4CF7-B7CF-A9CABDB6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572250"/>
            <a:ext cx="1771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Vários serviços descritos em um único arquivo</a:t>
            </a:r>
          </a:p>
        </p:txBody>
      </p:sp>
      <p:sp>
        <p:nvSpPr>
          <p:cNvPr id="3" name="section-number-11">
            <a:extLst xmlns:a="http://schemas.openxmlformats.org/drawingml/2006/main">
              <a:ext uri="{FF2B5EF4-FFF2-40B4-BE49-F238E27FC236}">
                <a16:creationId xmlns:a16="http://schemas.microsoft.com/office/drawing/2014/main" id="{DF1EE4F3-C9A9-4E76-8D4F-5B4FAF66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19917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12">
            <a:extLst xmlns:a="http://schemas.openxmlformats.org/drawingml/2006/main">
              <a:ext uri="{FF2B5EF4-FFF2-40B4-BE49-F238E27FC236}">
                <a16:creationId xmlns:a16="http://schemas.microsoft.com/office/drawing/2014/main" id="{788A272C-CF85-466A-A9E1-1D3507B2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O problema que o Compose resolve</a:t>
            </a:r>
          </a:p>
        </p:txBody>
      </p:sp>
      <p:sp>
        <p:nvSpPr>
          <p:cNvPr id="2" name="number-12">
            <a:extLst xmlns:a="http://schemas.openxmlformats.org/drawingml/2006/main">
              <a:ext uri="{FF2B5EF4-FFF2-40B4-BE49-F238E27FC236}">
                <a16:creationId xmlns:a16="http://schemas.microsoft.com/office/drawing/2014/main" id="{DE7EAD72-C399-484C-918A-FEFC8BD0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3" name="compose-problem">
            <a:extLst xmlns:a="http://schemas.openxmlformats.org/drawingml/2006/main">
              <a:ext uri="{FF2B5EF4-FFF2-40B4-BE49-F238E27FC236}">
                <a16:creationId xmlns:a16="http://schemas.microsoft.com/office/drawing/2014/main" id="{58F61E12-24E3-4C7E-9737-30B947AA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200025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6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6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Uma aplicação pode depender de frontend, API e banco de dados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6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6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Cada serviço precisa de imagem, configuração, rede e armazenamento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6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6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Uma sequência longa de docker run é difícil de repetir e revisar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6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6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arquivo Compose registra como os serviços trabalham juntos</a:t>
            </a:r>
          </a:p>
        </p:txBody>
      </p:sp>
      <p:sp>
        <p:nvSpPr>
          <p:cNvPr id="4" name="callout-e3rug0">
            <a:extLst xmlns:a="http://schemas.openxmlformats.org/drawingml/2006/main">
              <a:ext uri="{FF2B5EF4-FFF2-40B4-BE49-F238E27FC236}">
                <a16:creationId xmlns:a16="http://schemas.microsoft.com/office/drawing/2014/main" id="{C0D84EA6-5DD9-4A97-A085-37ECB36F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Compose descreve a execução. Dockerfiles descrevem como construir as imagens.</a:t>
            </a:r>
          </a:p>
        </p:txBody>
      </p:sp>
    </p:spTree>
    <p:extLst>
      <p:ext uri="{BB962C8B-B14F-4D97-AF65-F5344CB8AC3E}">
        <p14:creationId xmlns:p14="http://schemas.microsoft.com/office/powerpoint/2010/main" val="14602417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3">
            <a:extLst xmlns:a="http://schemas.openxmlformats.org/drawingml/2006/main">
              <a:ext uri="{FF2B5EF4-FFF2-40B4-BE49-F238E27FC236}">
                <a16:creationId xmlns:a16="http://schemas.microsoft.com/office/drawing/2014/main" id="{2E7EB481-C9C1-4C70-B5A0-59317B7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Estrutura de um arquivo Compose</a:t>
            </a:r>
          </a:p>
        </p:txBody>
      </p:sp>
      <p:sp>
        <p:nvSpPr>
          <p:cNvPr id="2" name="number-13">
            <a:extLst xmlns:a="http://schemas.openxmlformats.org/drawingml/2006/main">
              <a:ext uri="{FF2B5EF4-FFF2-40B4-BE49-F238E27FC236}">
                <a16:creationId xmlns:a16="http://schemas.microsoft.com/office/drawing/2014/main" id="{7ED5A15E-2BC6-4AC6-A43E-CA99C710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3" name="compose-structure">
            <a:extLst xmlns:a="http://schemas.openxmlformats.org/drawingml/2006/main">
              <a:ext uri="{FF2B5EF4-FFF2-40B4-BE49-F238E27FC236}">
                <a16:creationId xmlns:a16="http://schemas.microsoft.com/office/drawing/2014/main" id="{9E4B5131-DF33-431A-AB89-A133C009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10287000" cy="7143750"/>
          </a:xfrm>
          <a:prstGeom xmlns:a="http://schemas.openxmlformats.org/drawingml/2006/main" prst="roundRect">
            <a:avLst>
              <a:gd name="adj" fmla="val 1067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services: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site: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build: ./frontend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ports: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  - "8080:80"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api: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build: ./backend</a:t>
            </a:r>
          </a:p>
        </p:txBody>
      </p:sp>
      <p:sp>
        <p:nvSpPr>
          <p:cNvPr id="4" name="compose-fields-title">
            <a:extLst xmlns:a="http://schemas.openxmlformats.org/drawingml/2006/main">
              <a:ext uri="{FF2B5EF4-FFF2-40B4-BE49-F238E27FC236}">
                <a16:creationId xmlns:a16="http://schemas.microsoft.com/office/drawing/2014/main" id="{9E6FF3B6-C05E-4DC9-B435-126CDC5D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14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Campos mais usados</a:t>
            </a:r>
          </a:p>
        </p:txBody>
      </p:sp>
      <p:sp>
        <p:nvSpPr>
          <p:cNvPr id="5" name="compose-fields">
            <a:extLst xmlns:a="http://schemas.openxmlformats.org/drawingml/2006/main">
              <a:ext uri="{FF2B5EF4-FFF2-40B4-BE49-F238E27FC236}">
                <a16:creationId xmlns:a16="http://schemas.microsoft.com/office/drawing/2014/main" id="{8D012A82-1188-4694-B6BE-17ADE194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810000"/>
            <a:ext cx="8763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services define os containers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build indica onde está o Dockerfile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image usa uma imagem já construída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ports publica uma porta no computador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environment envia configurações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volumes preserva ou compartilha arquivos</a:t>
            </a:r>
          </a:p>
        </p:txBody>
      </p:sp>
    </p:spTree>
    <p:extLst>
      <p:ext uri="{BB962C8B-B14F-4D97-AF65-F5344CB8AC3E}">
        <p14:creationId xmlns:p14="http://schemas.microsoft.com/office/powerpoint/2010/main" val="16324628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4">
            <a:extLst xmlns:a="http://schemas.openxmlformats.org/drawingml/2006/main">
              <a:ext uri="{FF2B5EF4-FFF2-40B4-BE49-F238E27FC236}">
                <a16:creationId xmlns:a16="http://schemas.microsoft.com/office/drawing/2014/main" id="{086021EC-2833-4F6C-9A5A-48944904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Compose com frontend e backend</a:t>
            </a:r>
          </a:p>
        </p:txBody>
      </p:sp>
      <p:sp>
        <p:nvSpPr>
          <p:cNvPr id="2" name="number-14">
            <a:extLst xmlns:a="http://schemas.openxmlformats.org/drawingml/2006/main">
              <a:ext uri="{FF2B5EF4-FFF2-40B4-BE49-F238E27FC236}">
                <a16:creationId xmlns:a16="http://schemas.microsoft.com/office/drawing/2014/main" id="{4D03E3B8-BA72-493E-9278-D706E9A2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3" name="compose-full">
            <a:extLst xmlns:a="http://schemas.openxmlformats.org/drawingml/2006/main">
              <a:ext uri="{FF2B5EF4-FFF2-40B4-BE49-F238E27FC236}">
                <a16:creationId xmlns:a16="http://schemas.microsoft.com/office/drawing/2014/main" id="{8E70299F-C9DE-4E86-B16B-FD11D6E9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11906250" cy="7905750"/>
          </a:xfrm>
          <a:prstGeom xmlns:a="http://schemas.openxmlformats.org/drawingml/2006/main" prst="roundRect">
            <a:avLst>
              <a:gd name="adj" fmla="val 964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services: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frontend: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build: ./frontend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ports: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  - "8080:80"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depends_on: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  - backend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backend: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build: ./backend</a:t>
            </a:r>
          </a:p>
        </p:txBody>
      </p:sp>
      <p:sp>
        <p:nvSpPr>
          <p:cNvPr id="4" name="compose-full-notes">
            <a:extLst xmlns:a="http://schemas.openxmlformats.org/drawingml/2006/main">
              <a:ext uri="{FF2B5EF4-FFF2-40B4-BE49-F238E27FC236}">
                <a16:creationId xmlns:a16="http://schemas.microsoft.com/office/drawing/2014/main" id="{2363D451-99AD-4AA6-9EA9-FC51B88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238500"/>
            <a:ext cx="7810500" cy="57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25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usuário acessa somente o frontend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25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backend fica disponível na rede interna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25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nome backend funciona como endereço interno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25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A porta interna vem do processo no container</a:t>
            </a:r>
          </a:p>
        </p:txBody>
      </p:sp>
      <p:sp>
        <p:nvSpPr>
          <p:cNvPr id="5" name="callout-cjz00s">
            <a:extLst xmlns:a="http://schemas.openxmlformats.org/drawingml/2006/main">
              <a:ext uri="{FF2B5EF4-FFF2-40B4-BE49-F238E27FC236}">
                <a16:creationId xmlns:a16="http://schemas.microsoft.com/office/drawing/2014/main" id="{5F2D0184-D3AD-46A4-9968-D6D6636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O mapeamento 8080:80 não muda a porta usada entre os serviços.</a:t>
            </a:r>
          </a:p>
        </p:txBody>
      </p:sp>
    </p:spTree>
    <p:extLst>
      <p:ext uri="{BB962C8B-B14F-4D97-AF65-F5344CB8AC3E}">
        <p14:creationId xmlns:p14="http://schemas.microsoft.com/office/powerpoint/2010/main" val="19550173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5">
            <a:extLst xmlns:a="http://schemas.openxmlformats.org/drawingml/2006/main">
              <a:ext uri="{FF2B5EF4-FFF2-40B4-BE49-F238E27FC236}">
                <a16:creationId xmlns:a16="http://schemas.microsoft.com/office/drawing/2014/main" id="{D2B20E7B-8C41-4D84-8B02-0597EB70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Rede interna e nomes de serviço</a:t>
            </a:r>
          </a:p>
        </p:txBody>
      </p:sp>
      <p:sp>
        <p:nvSpPr>
          <p:cNvPr id="2" name="number-15">
            <a:extLst xmlns:a="http://schemas.openxmlformats.org/drawingml/2006/main">
              <a:ext uri="{FF2B5EF4-FFF2-40B4-BE49-F238E27FC236}">
                <a16:creationId xmlns:a16="http://schemas.microsoft.com/office/drawing/2014/main" id="{733E767F-3065-44CE-9577-23C28167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3" name="browser">
            <a:extLst xmlns:a="http://schemas.openxmlformats.org/drawingml/2006/main">
              <a:ext uri="{FF2B5EF4-FFF2-40B4-BE49-F238E27FC236}">
                <a16:creationId xmlns:a16="http://schemas.microsoft.com/office/drawing/2014/main" id="{309859C3-923C-4188-8109-C1CA4713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571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NAVEGADOR</a:t>
            </a:r>
          </a:p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localhost:8080</a:t>
            </a:r>
          </a:p>
        </p:txBody>
      </p:sp>
      <p:sp>
        <p:nvSpPr>
          <p:cNvPr id="4" name="front">
            <a:extLst xmlns:a="http://schemas.openxmlformats.org/drawingml/2006/main">
              <a:ext uri="{FF2B5EF4-FFF2-40B4-BE49-F238E27FC236}">
                <a16:creationId xmlns:a16="http://schemas.microsoft.com/office/drawing/2014/main" id="{4607FCB4-6712-4A8A-ACCF-3CBA14FF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571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FRONTEND</a:t>
            </a:r>
          </a:p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Nginx na porta 80</a:t>
            </a:r>
          </a:p>
        </p:txBody>
      </p:sp>
      <p:sp>
        <p:nvSpPr>
          <p:cNvPr id="5" name="back">
            <a:extLst xmlns:a="http://schemas.openxmlformats.org/drawingml/2006/main">
              <a:ext uri="{FF2B5EF4-FFF2-40B4-BE49-F238E27FC236}">
                <a16:creationId xmlns:a16="http://schemas.microsoft.com/office/drawing/2014/main" id="{89B849EA-ACB1-4259-9B20-5C37AEB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4953000"/>
            <a:ext cx="571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BACKEND</a:t>
            </a:r>
          </a:p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backend:5050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143750" y="59531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F3292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5049500" y="59531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F3292"/>
            </a:solidFill>
            <a:prstDash val="solid"/>
            <a:headEnd type="arrow" w="med" len="med"/>
          </a:ln>
        </p:spPr>
      </p:cxnSp>
      <p:sp>
        <p:nvSpPr>
          <p:cNvPr id="8" name="public-label">
            <a:extLst xmlns:a="http://schemas.openxmlformats.org/drawingml/2006/main">
              <a:ext uri="{FF2B5EF4-FFF2-40B4-BE49-F238E27FC236}">
                <a16:creationId xmlns:a16="http://schemas.microsoft.com/office/drawing/2014/main" id="{B69FAFCF-63D9-41B4-8798-99319DD3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3342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porta publicada</a:t>
            </a:r>
          </a:p>
        </p:txBody>
      </p:sp>
      <p:sp>
        <p:nvSpPr>
          <p:cNvPr id="9" name="internal-label">
            <a:extLst xmlns:a="http://schemas.openxmlformats.org/drawingml/2006/main">
              <a:ext uri="{FF2B5EF4-FFF2-40B4-BE49-F238E27FC236}">
                <a16:creationId xmlns:a16="http://schemas.microsoft.com/office/drawing/2014/main" id="{90426FCB-79C3-4E92-87CB-0A2A31E7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73342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rede do Compose</a:t>
            </a:r>
          </a:p>
        </p:txBody>
      </p:sp>
      <p:sp>
        <p:nvSpPr>
          <p:cNvPr id="10" name="callout-kzc4ph">
            <a:extLst xmlns:a="http://schemas.openxmlformats.org/drawingml/2006/main">
              <a:ext uri="{FF2B5EF4-FFF2-40B4-BE49-F238E27FC236}">
                <a16:creationId xmlns:a16="http://schemas.microsoft.com/office/drawing/2014/main" id="{77A3BDD2-FF58-4388-9CE3-B6885237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O navegador não conhece o nome backend. O Nginx usa esse nome dentro da rede do Compose.</a:t>
            </a:r>
          </a:p>
        </p:txBody>
      </p:sp>
    </p:spTree>
    <p:extLst>
      <p:ext uri="{BB962C8B-B14F-4D97-AF65-F5344CB8AC3E}">
        <p14:creationId xmlns:p14="http://schemas.microsoft.com/office/powerpoint/2010/main" val="17062432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6">
            <a:extLst xmlns:a="http://schemas.openxmlformats.org/drawingml/2006/main">
              <a:ext uri="{FF2B5EF4-FFF2-40B4-BE49-F238E27FC236}">
                <a16:creationId xmlns:a16="http://schemas.microsoft.com/office/drawing/2014/main" id="{FE9651E6-33E9-4BAB-BD5C-98877604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Proxy reverso no frontend</a:t>
            </a:r>
          </a:p>
        </p:txBody>
      </p:sp>
      <p:sp>
        <p:nvSpPr>
          <p:cNvPr id="2" name="number-16">
            <a:extLst xmlns:a="http://schemas.openxmlformats.org/drawingml/2006/main">
              <a:ext uri="{FF2B5EF4-FFF2-40B4-BE49-F238E27FC236}">
                <a16:creationId xmlns:a16="http://schemas.microsoft.com/office/drawing/2014/main" id="{90E26C9B-4C72-423B-9B5D-CFD99939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3" name="nginx-code">
            <a:extLst xmlns:a="http://schemas.openxmlformats.org/drawingml/2006/main">
              <a:ext uri="{FF2B5EF4-FFF2-40B4-BE49-F238E27FC236}">
                <a16:creationId xmlns:a16="http://schemas.microsoft.com/office/drawing/2014/main" id="{34A42C72-23B8-4866-A52D-0EE7FB88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13811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location /api/ {</a:t>
            </a:r>
          </a:p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proxy_pass http://backend:5050/;</a:t>
            </a:r>
          </a:p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proxy_set_header Host $host;</a:t>
            </a:r>
          </a:p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proxy_set_header X-Forwarded-For $proxy_add_x_forwarded_for;</a:t>
            </a:r>
          </a:p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}</a:t>
            </a:r>
          </a:p>
        </p:txBody>
      </p:sp>
      <p:sp>
        <p:nvSpPr>
          <p:cNvPr id="4" name="proxy-example-title">
            <a:extLst xmlns:a="http://schemas.openxmlformats.org/drawingml/2006/main">
              <a:ext uri="{FF2B5EF4-FFF2-40B4-BE49-F238E27FC236}">
                <a16:creationId xmlns:a16="http://schemas.microsoft.com/office/drawing/2014/main" id="{568D9267-E35B-42A4-8704-9ACE44A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3143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Exemplo de tradução</a:t>
            </a:r>
          </a:p>
        </p:txBody>
      </p:sp>
      <p:sp>
        <p:nvSpPr>
          <p:cNvPr id="5" name="proxy-example">
            <a:extLst xmlns:a="http://schemas.openxmlformats.org/drawingml/2006/main">
              <a:ext uri="{FF2B5EF4-FFF2-40B4-BE49-F238E27FC236}">
                <a16:creationId xmlns:a16="http://schemas.microsoft.com/office/drawing/2014/main" id="{E9F78D53-E7FF-40F6-BEF9-10D43DE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4333875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/api/rotas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chega ao backend como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/rotas</a:t>
            </a:r>
          </a:p>
        </p:txBody>
      </p:sp>
      <p:sp>
        <p:nvSpPr>
          <p:cNvPr id="6" name="callout-o8l6g3">
            <a:extLst xmlns:a="http://schemas.openxmlformats.org/drawingml/2006/main">
              <a:ext uri="{FF2B5EF4-FFF2-40B4-BE49-F238E27FC236}">
                <a16:creationId xmlns:a16="http://schemas.microsoft.com/office/drawing/2014/main" id="{7EA3ADC2-FCF6-4B66-BF26-C9981C75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A barra final de proxy_pass muda o caminho encaminhado. A porta deve coincidir com a porta interna do backend.</a:t>
            </a:r>
          </a:p>
        </p:txBody>
      </p:sp>
    </p:spTree>
    <p:extLst>
      <p:ext uri="{BB962C8B-B14F-4D97-AF65-F5344CB8AC3E}">
        <p14:creationId xmlns:p14="http://schemas.microsoft.com/office/powerpoint/2010/main" val="1751743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7">
            <a:extLst xmlns:a="http://schemas.openxmlformats.org/drawingml/2006/main">
              <a:ext uri="{FF2B5EF4-FFF2-40B4-BE49-F238E27FC236}">
                <a16:creationId xmlns:a16="http://schemas.microsoft.com/office/drawing/2014/main" id="{AC711F94-3389-47D6-BC74-0C1D7EFC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Dependências volumes e configuração</a:t>
            </a:r>
          </a:p>
        </p:txBody>
      </p:sp>
      <p:sp>
        <p:nvSpPr>
          <p:cNvPr id="2" name="number-17">
            <a:extLst xmlns:a="http://schemas.openxmlformats.org/drawingml/2006/main">
              <a:ext uri="{FF2B5EF4-FFF2-40B4-BE49-F238E27FC236}">
                <a16:creationId xmlns:a16="http://schemas.microsoft.com/office/drawing/2014/main" id="{96336294-BD1D-49A6-A667-1E9F0ADF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sp>
        <p:nvSpPr>
          <p:cNvPr id="3" name="compose-concept-depends_on">
            <a:extLst xmlns:a="http://schemas.openxmlformats.org/drawingml/2006/main">
              <a:ext uri="{FF2B5EF4-FFF2-40B4-BE49-F238E27FC236}">
                <a16:creationId xmlns:a16="http://schemas.microsoft.com/office/drawing/2014/main" id="{CDBB7F38-A227-46FE-BD10-E8F7F13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depends_on</a:t>
            </a:r>
          </a:p>
        </p:txBody>
      </p:sp>
      <p:sp>
        <p:nvSpPr>
          <p:cNvPr id="4" name="compose-copy-depends_on">
            <a:extLst xmlns:a="http://schemas.openxmlformats.org/drawingml/2006/main">
              <a:ext uri="{FF2B5EF4-FFF2-40B4-BE49-F238E27FC236}">
                <a16:creationId xmlns:a16="http://schemas.microsoft.com/office/drawing/2014/main" id="{E21404CA-B697-4228-84E4-C9B9FBC8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Registra dependência e ordem de início. Sozinho, não garante que a aplicação já esteja pronta.</a:t>
            </a:r>
          </a:p>
        </p:txBody>
      </p:sp>
      <p:sp>
        <p:nvSpPr>
          <p:cNvPr id="5" name="compose-concept-volumes">
            <a:extLst xmlns:a="http://schemas.openxmlformats.org/drawingml/2006/main">
              <a:ext uri="{FF2B5EF4-FFF2-40B4-BE49-F238E27FC236}">
                <a16:creationId xmlns:a16="http://schemas.microsoft.com/office/drawing/2014/main" id="{A92A221C-96A2-4AE8-8513-737CEB72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volumes</a:t>
            </a:r>
          </a:p>
        </p:txBody>
      </p:sp>
      <p:sp>
        <p:nvSpPr>
          <p:cNvPr id="6" name="compose-copy-volumes">
            <a:extLst xmlns:a="http://schemas.openxmlformats.org/drawingml/2006/main">
              <a:ext uri="{FF2B5EF4-FFF2-40B4-BE49-F238E27FC236}">
                <a16:creationId xmlns:a16="http://schemas.microsoft.com/office/drawing/2014/main" id="{598F392D-37E8-4268-BDA9-F77868DF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Mantém dados fora da camada gravável do container ou compartilha arquivos necessários.</a:t>
            </a:r>
          </a:p>
        </p:txBody>
      </p:sp>
      <p:sp>
        <p:nvSpPr>
          <p:cNvPr id="7" name="compose-concept-environment">
            <a:extLst xmlns:a="http://schemas.openxmlformats.org/drawingml/2006/main">
              <a:ext uri="{FF2B5EF4-FFF2-40B4-BE49-F238E27FC236}">
                <a16:creationId xmlns:a16="http://schemas.microsoft.com/office/drawing/2014/main" id="{6D537306-3318-41A1-865E-3EAC0DCA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3143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environment</a:t>
            </a:r>
          </a:p>
        </p:txBody>
      </p:sp>
      <p:sp>
        <p:nvSpPr>
          <p:cNvPr id="8" name="compose-copy-environment">
            <a:extLst xmlns:a="http://schemas.openxmlformats.org/drawingml/2006/main">
              <a:ext uri="{FF2B5EF4-FFF2-40B4-BE49-F238E27FC236}">
                <a16:creationId xmlns:a16="http://schemas.microsoft.com/office/drawing/2014/main" id="{EAF25BC4-F866-4DFA-BEBA-090CCD60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44767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Entrega valores que variam entre ambientes sem criar outra imagem.</a:t>
            </a:r>
          </a:p>
        </p:txBody>
      </p:sp>
      <p:sp>
        <p:nvSpPr>
          <p:cNvPr id="9" name="callout-apmwwv">
            <a:extLst xmlns:a="http://schemas.openxmlformats.org/drawingml/2006/main">
              <a:ext uri="{FF2B5EF4-FFF2-40B4-BE49-F238E27FC236}">
                <a16:creationId xmlns:a16="http://schemas.microsoft.com/office/drawing/2014/main" id="{9715F6F1-5B86-4A87-BBC5-54786E4C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Quando prontidão importa, combine healthcheck com uma condição de dependência adequada.</a:t>
            </a:r>
          </a:p>
        </p:txBody>
      </p:sp>
    </p:spTree>
    <p:extLst>
      <p:ext uri="{BB962C8B-B14F-4D97-AF65-F5344CB8AC3E}">
        <p14:creationId xmlns:p14="http://schemas.microsoft.com/office/powerpoint/2010/main" val="82208604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8">
            <a:extLst xmlns:a="http://schemas.openxmlformats.org/drawingml/2006/main">
              <a:ext uri="{FF2B5EF4-FFF2-40B4-BE49-F238E27FC236}">
                <a16:creationId xmlns:a16="http://schemas.microsoft.com/office/drawing/2014/main" id="{ACD5E0C3-BC5B-4EE2-A436-4A596625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Fluxo de uso do Compose</a:t>
            </a:r>
          </a:p>
        </p:txBody>
      </p:sp>
      <p:sp>
        <p:nvSpPr>
          <p:cNvPr id="2" name="number-18">
            <a:extLst xmlns:a="http://schemas.openxmlformats.org/drawingml/2006/main">
              <a:ext uri="{FF2B5EF4-FFF2-40B4-BE49-F238E27FC236}">
                <a16:creationId xmlns:a16="http://schemas.microsoft.com/office/drawing/2014/main" id="{AF504336-6E73-4EE8-930E-3FBCB76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  <p:sp>
        <p:nvSpPr>
          <p:cNvPr id="3" name="compose-commands">
            <a:extLst xmlns:a="http://schemas.openxmlformats.org/drawingml/2006/main">
              <a:ext uri="{FF2B5EF4-FFF2-40B4-BE49-F238E27FC236}">
                <a16:creationId xmlns:a16="http://schemas.microsoft.com/office/drawing/2014/main" id="{BE51337C-940D-4364-99FE-3EC2F614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1906250" cy="619125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config</a:t>
            </a:r>
          </a:p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up -d --build</a:t>
            </a:r>
          </a:p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ps</a:t>
            </a:r>
          </a:p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logs -f</a:t>
            </a:r>
          </a:p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down</a:t>
            </a:r>
          </a:p>
        </p:txBody>
      </p:sp>
      <p:sp>
        <p:nvSpPr>
          <p:cNvPr id="4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D23974E0-2D56-4A30-AA50-ADE814C4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0003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Leitura do fluxo</a:t>
            </a:r>
          </a:p>
        </p:txBody>
      </p:sp>
      <p:sp>
        <p:nvSpPr>
          <p:cNvPr id="5" name="workflow-list">
            <a:extLst xmlns:a="http://schemas.openxmlformats.org/drawingml/2006/main">
              <a:ext uri="{FF2B5EF4-FFF2-40B4-BE49-F238E27FC236}">
                <a16:creationId xmlns:a16="http://schemas.microsoft.com/office/drawing/2014/main" id="{5695E7F0-10B3-4F5D-8DFB-F2D1F76E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095750"/>
            <a:ext cx="7239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Validar o arquivo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Construir e iniciar os serviços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Conferir o estado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Acompanhar as mensagens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Encerrar a solução</a:t>
            </a:r>
          </a:p>
        </p:txBody>
      </p:sp>
      <p:sp>
        <p:nvSpPr>
          <p:cNvPr id="6" name="callout-opa8fv">
            <a:extLst xmlns:a="http://schemas.openxmlformats.org/drawingml/2006/main">
              <a:ext uri="{FF2B5EF4-FFF2-40B4-BE49-F238E27FC236}">
                <a16:creationId xmlns:a16="http://schemas.microsoft.com/office/drawing/2014/main" id="{0A7AEEC9-F89A-4596-9596-9E48C54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Use --build quando o Dockerfile ou os arquivos copiados para a imagem mudarem.</a:t>
            </a:r>
          </a:p>
        </p:txBody>
      </p:sp>
    </p:spTree>
    <p:extLst>
      <p:ext uri="{BB962C8B-B14F-4D97-AF65-F5344CB8AC3E}">
        <p14:creationId xmlns:p14="http://schemas.microsoft.com/office/powerpoint/2010/main" val="193547457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9">
            <a:extLst xmlns:a="http://schemas.openxmlformats.org/drawingml/2006/main">
              <a:ext uri="{FF2B5EF4-FFF2-40B4-BE49-F238E27FC236}">
                <a16:creationId xmlns:a16="http://schemas.microsoft.com/office/drawing/2014/main" id="{68922BA5-E856-495C-AF2C-2D793450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Diagnóstico da comunicação entre serviços</a:t>
            </a:r>
          </a:p>
        </p:txBody>
      </p:sp>
      <p:sp>
        <p:nvSpPr>
          <p:cNvPr id="2" name="number-19">
            <a:extLst xmlns:a="http://schemas.openxmlformats.org/drawingml/2006/main">
              <a:ext uri="{FF2B5EF4-FFF2-40B4-BE49-F238E27FC236}">
                <a16:creationId xmlns:a16="http://schemas.microsoft.com/office/drawing/2014/main" id="{C7FD4B52-C571-4EA4-9BBC-A4463867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3" name="diagnosis-question">
            <a:extLst xmlns:a="http://schemas.openxmlformats.org/drawingml/2006/main">
              <a:ext uri="{FF2B5EF4-FFF2-40B4-BE49-F238E27FC236}">
                <a16:creationId xmlns:a16="http://schemas.microsoft.com/office/drawing/2014/main" id="{1542DAC8-3BF2-45AA-880E-39D4FBB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095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Quando o frontend abre e a API não responde</a:t>
            </a:r>
          </a:p>
        </p:txBody>
      </p:sp>
      <p:sp>
        <p:nvSpPr>
          <p:cNvPr id="4" name="diagnosis-list">
            <a:extLst xmlns:a="http://schemas.openxmlformats.org/drawingml/2006/main">
              <a:ext uri="{FF2B5EF4-FFF2-40B4-BE49-F238E27FC236}">
                <a16:creationId xmlns:a16="http://schemas.microsoft.com/office/drawing/2014/main" id="{F9DB5CD5-3FCA-4E8B-B87B-E7DE066E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00025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Confirme se todos os serviços aparecem em docker compose ps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Leia os logs do frontend e do backend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Compare a porta em que o processo escuta com a porta usada pelo proxy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Use o nome do serviço para a comunicação interna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Teste primeiro o backend e depois o caminho público do frontend</a:t>
            </a:r>
          </a:p>
        </p:txBody>
      </p:sp>
      <p:sp>
        <p:nvSpPr>
          <p:cNvPr id="5" name="callout-44thg0">
            <a:extLst xmlns:a="http://schemas.openxmlformats.org/drawingml/2006/main">
              <a:ext uri="{FF2B5EF4-FFF2-40B4-BE49-F238E27FC236}">
                <a16:creationId xmlns:a16="http://schemas.microsoft.com/office/drawing/2014/main" id="{9C0F81E3-C355-45F1-9B06-2C19D864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HTTP 502 costuma indicar que o proxy recebeu a requisição, mas não conseguiu falar com o serviço de destino.</a:t>
            </a:r>
          </a:p>
        </p:txBody>
      </p:sp>
    </p:spTree>
    <p:extLst>
      <p:ext uri="{BB962C8B-B14F-4D97-AF65-F5344CB8AC3E}">
        <p14:creationId xmlns:p14="http://schemas.microsoft.com/office/powerpoint/2010/main" val="205216267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20">
            <a:extLst xmlns:a="http://schemas.openxmlformats.org/drawingml/2006/main">
              <a:ext uri="{FF2B5EF4-FFF2-40B4-BE49-F238E27FC236}">
                <a16:creationId xmlns:a16="http://schemas.microsoft.com/office/drawing/2014/main" id="{79179095-DCAC-4131-BDCB-5D881ED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Checklist de estudo</a:t>
            </a:r>
          </a:p>
        </p:txBody>
      </p:sp>
      <p:sp>
        <p:nvSpPr>
          <p:cNvPr id="2" name="number-20">
            <a:extLst xmlns:a="http://schemas.openxmlformats.org/drawingml/2006/main">
              <a:ext uri="{FF2B5EF4-FFF2-40B4-BE49-F238E27FC236}">
                <a16:creationId xmlns:a16="http://schemas.microsoft.com/office/drawing/2014/main" id="{82909B01-8A93-4B30-9CB5-4C6A3C83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3" name="study-checklist">
            <a:extLst xmlns:a="http://schemas.openxmlformats.org/drawingml/2006/main">
              <a:ext uri="{FF2B5EF4-FFF2-40B4-BE49-F238E27FC236}">
                <a16:creationId xmlns:a16="http://schemas.microsoft.com/office/drawing/2014/main" id="{19AE45E5-0A27-4313-BF7F-EDAA1BF6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20288250" cy="781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explicar a diferença entre imagem e container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localizar FROM, RUN e CMD em um Dockerfile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construir uma imagem com nome e tag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publicar uma porta e interpretar host:container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descrever dois serviços em um arquivo Compose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explicar como um serviço encontra outro pela rede interna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usar ps e logs para investigar uma falha</a:t>
            </a:r>
          </a:p>
        </p:txBody>
      </p:sp>
      <p:sp>
        <p:nvSpPr>
          <p:cNvPr id="4" name="callout-z1nihu">
            <a:extLst xmlns:a="http://schemas.openxmlformats.org/drawingml/2006/main">
              <a:ext uri="{FF2B5EF4-FFF2-40B4-BE49-F238E27FC236}">
                <a16:creationId xmlns:a16="http://schemas.microsoft.com/office/drawing/2014/main" id="{61EC4149-7413-44B5-A6D7-FDCA5C91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Próximo passo: resolver os desafios sem copiar os arquivos dos casos.</a:t>
            </a:r>
          </a:p>
        </p:txBody>
      </p:sp>
    </p:spTree>
    <p:extLst>
      <p:ext uri="{BB962C8B-B14F-4D97-AF65-F5344CB8AC3E}">
        <p14:creationId xmlns:p14="http://schemas.microsoft.com/office/powerpoint/2010/main" val="1627962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2026-09-08T20:13:49.7730000Z</dcterms:created>
  <dcterms:modified xsi:type="dcterms:W3CDTF">2026-09-08T20:13:49.7730000Z</dcterms:modified>
</coreProperties>
</file>